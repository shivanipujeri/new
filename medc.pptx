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0"/>
  </p:notesMasterIdLst>
  <p:sldIdLst>
    <p:sldId id="265" r:id="rId2"/>
    <p:sldId id="257" r:id="rId3"/>
    <p:sldId id="258" r:id="rId4"/>
    <p:sldId id="260" r:id="rId5"/>
    <p:sldId id="261" r:id="rId6"/>
    <p:sldId id="262" r:id="rId7"/>
    <p:sldId id="263" r:id="rId8"/>
    <p:sldId id="264"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18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2F309E-F14D-4F40-AE46-39462C9498EA}" type="datetimeFigureOut">
              <a:rPr lang="en-IN" smtClean="0"/>
              <a:t>17-10-2023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19F601-2795-432E-94A8-2DA6CE0CBFA5}" type="slidenum">
              <a:rPr lang="en-IN" smtClean="0"/>
              <a:t>‹#›</a:t>
            </a:fld>
            <a:endParaRPr lang="en-IN"/>
          </a:p>
        </p:txBody>
      </p:sp>
    </p:spTree>
    <p:extLst>
      <p:ext uri="{BB962C8B-B14F-4D97-AF65-F5344CB8AC3E}">
        <p14:creationId xmlns:p14="http://schemas.microsoft.com/office/powerpoint/2010/main" val="238825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F8D8F14-59DD-44AB-9CEC-2A0DBAC7C8A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DC4BAB-28D8-45E4-B440-1EAEEF86BC7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8D8F14-59DD-44AB-9CEC-2A0DBAC7C8A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DC4BAB-28D8-45E4-B440-1EAEEF86BC7D}" type="slidenum">
              <a:rPr lang="en-IN" smtClean="0"/>
              <a:t>‹#›</a:t>
            </a:fld>
            <a:endParaRPr lang="en-IN"/>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8D8F14-59DD-44AB-9CEC-2A0DBAC7C8A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DC4BAB-28D8-45E4-B440-1EAEEF86BC7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AF8D8F14-59DD-44AB-9CEC-2A0DBAC7C8A8}" type="datetimeFigureOut">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DC4BAB-28D8-45E4-B440-1EAEEF86BC7D}" type="slidenum">
              <a:rPr lang="en-IN" smtClean="0"/>
              <a:t>‹#›</a:t>
            </a:fld>
            <a:endParaRPr lang="en-IN"/>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8D8F14-59DD-44AB-9CEC-2A0DBAC7C8A8}" type="datetimeFigureOut">
              <a:rPr lang="en-IN" smtClean="0"/>
              <a:t>17-10-2023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DC4BAB-28D8-45E4-B440-1EAEEF86BC7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F8D8F14-59DD-44AB-9CEC-2A0DBAC7C8A8}" type="datetimeFigureOut">
              <a:rPr lang="en-IN" smtClean="0"/>
              <a:t>17-10-2023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DC4BAB-28D8-45E4-B440-1EAEEF86BC7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AF8D8F14-59DD-44AB-9CEC-2A0DBAC7C8A8}" type="datetimeFigureOut">
              <a:rPr lang="en-IN" smtClean="0"/>
              <a:t>17-10-2023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DC4BAB-28D8-45E4-B440-1EAEEF86BC7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AF8D8F14-59DD-44AB-9CEC-2A0DBAC7C8A8}" type="datetimeFigureOut">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DC4BAB-28D8-45E4-B440-1EAEEF86BC7D}" type="slidenum">
              <a:rPr lang="en-IN" smtClean="0"/>
              <a:t>‹#›</a:t>
            </a:fld>
            <a:endParaRPr lang="en-IN"/>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8D8F14-59DD-44AB-9CEC-2A0DBAC7C8A8}" type="datetimeFigureOut">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DC4BAB-28D8-45E4-B440-1EAEEF86BC7D}" type="slidenum">
              <a:rPr lang="en-IN" smtClean="0"/>
              <a:t>‹#›</a:t>
            </a:fld>
            <a:endParaRPr lang="en-IN"/>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8D8F14-59DD-44AB-9CEC-2A0DBAC7C8A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DC4BAB-28D8-45E4-B440-1EAEEF86BC7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AF8D8F14-59DD-44AB-9CEC-2A0DBAC7C8A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DC4BAB-28D8-45E4-B440-1EAEEF86BC7D}" type="slidenum">
              <a:rPr lang="en-IN" smtClean="0"/>
              <a:t>‹#›</a:t>
            </a:fld>
            <a:endParaRPr lang="en-IN"/>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AF8D8F14-59DD-44AB-9CEC-2A0DBAC7C8A8}" type="datetimeFigureOut">
              <a:rPr lang="en-IN" smtClean="0"/>
              <a:t>17-10-2023</a:t>
            </a:fld>
            <a:endParaRPr lang="en-IN"/>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IN"/>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99DC4BAB-28D8-45E4-B440-1EAEEF86BC7D}" type="slidenum">
              <a:rPr lang="en-IN" smtClean="0"/>
              <a:t>‹#›</a:t>
            </a:fld>
            <a:endParaRPr lang="en-IN"/>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helpdesk2@vidalhealth.com" TargetMode="External"/><Relationship Id="rId2" Type="http://schemas.openxmlformats.org/officeDocument/2006/relationships/hyperlink" Target="mailto:delhiclaims@produlentbrokers.com"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latin typeface="Times New Roman" pitchFamily="18" charset="0"/>
                <a:cs typeface="Times New Roman" pitchFamily="18" charset="0"/>
              </a:rPr>
              <a:t>Medical Insurance Policy</a:t>
            </a:r>
            <a:endParaRPr lang="en-IN" dirty="0">
              <a:latin typeface="Times New Roman" pitchFamily="18" charset="0"/>
              <a:cs typeface="Times New Roman" pitchFamily="18" charset="0"/>
            </a:endParaRPr>
          </a:p>
        </p:txBody>
      </p:sp>
      <p:sp>
        <p:nvSpPr>
          <p:cNvPr id="4" name="Cross 3"/>
          <p:cNvSpPr/>
          <p:nvPr/>
        </p:nvSpPr>
        <p:spPr>
          <a:xfrm>
            <a:off x="323528" y="2060848"/>
            <a:ext cx="2016224" cy="2088232"/>
          </a:xfrm>
          <a:prstGeom prst="plus">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p:cNvSpPr/>
          <p:nvPr/>
        </p:nvSpPr>
        <p:spPr>
          <a:xfrm>
            <a:off x="323528" y="2780928"/>
            <a:ext cx="2016224" cy="646331"/>
          </a:xfrm>
          <a:prstGeom prst="rect">
            <a:avLst/>
          </a:prstGeom>
        </p:spPr>
        <p:txBody>
          <a:bodyPr wrap="square">
            <a:spAutoFit/>
          </a:bodyPr>
          <a:lstStyle/>
          <a:p>
            <a:pPr algn="ctr"/>
            <a:r>
              <a:rPr lang="en-US" dirty="0">
                <a:latin typeface="Times New Roman" pitchFamily="18" charset="0"/>
                <a:cs typeface="Times New Roman" pitchFamily="18" charset="0"/>
              </a:rPr>
              <a:t>Group Medical </a:t>
            </a:r>
            <a:r>
              <a:rPr lang="en-US" dirty="0" smtClean="0">
                <a:latin typeface="Times New Roman" pitchFamily="18" charset="0"/>
                <a:cs typeface="Times New Roman" pitchFamily="18" charset="0"/>
              </a:rPr>
              <a:t>Insurance</a:t>
            </a:r>
            <a:endParaRPr lang="en-IN" dirty="0">
              <a:latin typeface="Times New Roman" pitchFamily="18" charset="0"/>
              <a:cs typeface="Times New Roman" pitchFamily="18" charset="0"/>
            </a:endParaRPr>
          </a:p>
        </p:txBody>
      </p:sp>
      <p:sp>
        <p:nvSpPr>
          <p:cNvPr id="9" name="Cross 8"/>
          <p:cNvSpPr/>
          <p:nvPr/>
        </p:nvSpPr>
        <p:spPr>
          <a:xfrm>
            <a:off x="3419872" y="3717032"/>
            <a:ext cx="2016224" cy="2088232"/>
          </a:xfrm>
          <a:prstGeom prst="plus">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50" dirty="0">
                <a:solidFill>
                  <a:schemeClr val="tx1"/>
                </a:solidFill>
                <a:latin typeface="Times New Roman" pitchFamily="18" charset="0"/>
                <a:cs typeface="Times New Roman" pitchFamily="18" charset="0"/>
              </a:rPr>
              <a:t>Group Personal Accident</a:t>
            </a:r>
            <a:endParaRPr lang="en-IN" sz="1750" dirty="0">
              <a:solidFill>
                <a:schemeClr val="tx1"/>
              </a:solidFill>
              <a:latin typeface="Times New Roman" pitchFamily="18" charset="0"/>
              <a:cs typeface="Times New Roman" pitchFamily="18" charset="0"/>
            </a:endParaRPr>
          </a:p>
          <a:p>
            <a:pPr algn="ctr"/>
            <a:endParaRPr lang="en-IN" sz="1750" dirty="0">
              <a:solidFill>
                <a:schemeClr val="tx1"/>
              </a:solidFill>
              <a:latin typeface="Times New Roman" pitchFamily="18" charset="0"/>
              <a:cs typeface="Times New Roman" pitchFamily="18" charset="0"/>
            </a:endParaRPr>
          </a:p>
        </p:txBody>
      </p:sp>
      <p:sp>
        <p:nvSpPr>
          <p:cNvPr id="10" name="Cross 9"/>
          <p:cNvSpPr/>
          <p:nvPr/>
        </p:nvSpPr>
        <p:spPr>
          <a:xfrm>
            <a:off x="6660232" y="4522816"/>
            <a:ext cx="2016224" cy="2088232"/>
          </a:xfrm>
          <a:prstGeom prst="plus">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itchFamily="18" charset="0"/>
                <a:cs typeface="Times New Roman" pitchFamily="18" charset="0"/>
              </a:rPr>
              <a:t>Group Term Life</a:t>
            </a:r>
            <a:endParaRPr lang="en-IN" sz="1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166519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US" sz="4000" b="1" dirty="0" smtClean="0">
                <a:latin typeface="Times New Roman" pitchFamily="18" charset="0"/>
                <a:cs typeface="Times New Roman" pitchFamily="18" charset="0"/>
              </a:rPr>
              <a:t>Group Medical Insurance</a:t>
            </a:r>
            <a:endParaRPr lang="en-IN" sz="4000" b="1" dirty="0">
              <a:latin typeface="Times New Roman" pitchFamily="18" charset="0"/>
              <a:cs typeface="Times New Roman" pitchFamily="18" charset="0"/>
            </a:endParaRPr>
          </a:p>
        </p:txBody>
      </p:sp>
      <p:sp>
        <p:nvSpPr>
          <p:cNvPr id="3" name="Text Placeholder 2"/>
          <p:cNvSpPr>
            <a:spLocks noGrp="1"/>
          </p:cNvSpPr>
          <p:nvPr>
            <p:ph type="body" idx="1"/>
          </p:nvPr>
        </p:nvSpPr>
        <p:spPr>
          <a:xfrm>
            <a:off x="899592" y="1772817"/>
            <a:ext cx="2376264" cy="432047"/>
          </a:xfrm>
        </p:spPr>
        <p:txBody>
          <a:bodyPr>
            <a:normAutofit fontScale="92500" lnSpcReduction="20000"/>
          </a:bodyPr>
          <a:lstStyle/>
          <a:p>
            <a:r>
              <a:rPr lang="en-US" sz="2800" dirty="0" smtClean="0">
                <a:latin typeface="Times New Roman" pitchFamily="18" charset="0"/>
                <a:cs typeface="Times New Roman" pitchFamily="18" charset="0"/>
              </a:rPr>
              <a:t>Features </a:t>
            </a:r>
            <a:endParaRPr lang="en-IN" dirty="0">
              <a:latin typeface="Times New Roman" pitchFamily="18" charset="0"/>
              <a:cs typeface="Times New Roman" pitchFamily="18" charset="0"/>
            </a:endParaRPr>
          </a:p>
        </p:txBody>
      </p:sp>
      <p:sp>
        <p:nvSpPr>
          <p:cNvPr id="4" name="Content Placeholder 3"/>
          <p:cNvSpPr>
            <a:spLocks noGrp="1"/>
          </p:cNvSpPr>
          <p:nvPr>
            <p:ph sz="half" idx="2"/>
          </p:nvPr>
        </p:nvSpPr>
        <p:spPr>
          <a:xfrm>
            <a:off x="457200" y="2244005"/>
            <a:ext cx="4040188" cy="4209331"/>
          </a:xfrm>
        </p:spPr>
        <p:txBody>
          <a:bodyPr>
            <a:normAutofit lnSpcReduction="10000"/>
          </a:bodyPr>
          <a:lstStyle/>
          <a:p>
            <a:r>
              <a:rPr lang="en-US" sz="1600" dirty="0" smtClean="0">
                <a:latin typeface="Times New Roman" pitchFamily="18" charset="0"/>
                <a:cs typeface="Times New Roman" pitchFamily="18" charset="0"/>
              </a:rPr>
              <a:t>Standard Hospitalization : 24 Hours</a:t>
            </a:r>
          </a:p>
          <a:p>
            <a:r>
              <a:rPr lang="en-US" sz="1600" dirty="0" smtClean="0">
                <a:latin typeface="Times New Roman" pitchFamily="18" charset="0"/>
                <a:cs typeface="Times New Roman" pitchFamily="18" charset="0"/>
              </a:rPr>
              <a:t>Pre Existing Disease</a:t>
            </a:r>
          </a:p>
          <a:p>
            <a:r>
              <a:rPr lang="en-US" sz="1600" dirty="0" smtClean="0">
                <a:latin typeface="Times New Roman" pitchFamily="18" charset="0"/>
                <a:cs typeface="Times New Roman" pitchFamily="18" charset="0"/>
              </a:rPr>
              <a:t>Day Care Procedure</a:t>
            </a:r>
          </a:p>
          <a:p>
            <a:r>
              <a:rPr lang="en-US" sz="1600" dirty="0" smtClean="0">
                <a:latin typeface="Times New Roman" pitchFamily="18" charset="0"/>
                <a:cs typeface="Times New Roman" pitchFamily="18" charset="0"/>
              </a:rPr>
              <a:t>Pre and Post Hospitalization Expenses</a:t>
            </a:r>
          </a:p>
          <a:p>
            <a:r>
              <a:rPr lang="en-US" sz="1600" dirty="0" smtClean="0">
                <a:latin typeface="Times New Roman" pitchFamily="18" charset="0"/>
                <a:cs typeface="Times New Roman" pitchFamily="18" charset="0"/>
              </a:rPr>
              <a:t>Boarding Charges</a:t>
            </a:r>
          </a:p>
          <a:p>
            <a:r>
              <a:rPr lang="en-US" sz="1600" dirty="0" smtClean="0">
                <a:latin typeface="Times New Roman" pitchFamily="18" charset="0"/>
                <a:cs typeface="Times New Roman" pitchFamily="18" charset="0"/>
              </a:rPr>
              <a:t>Maternity Benefit</a:t>
            </a:r>
          </a:p>
          <a:p>
            <a:r>
              <a:rPr lang="en-US" sz="1600" dirty="0" smtClean="0">
                <a:latin typeface="Times New Roman" pitchFamily="18" charset="0"/>
                <a:cs typeface="Times New Roman" pitchFamily="18" charset="0"/>
              </a:rPr>
              <a:t>Baby Expenses</a:t>
            </a:r>
          </a:p>
          <a:p>
            <a:r>
              <a:rPr lang="en-US" sz="1600" dirty="0" smtClean="0">
                <a:latin typeface="Times New Roman" pitchFamily="18" charset="0"/>
                <a:cs typeface="Times New Roman" pitchFamily="18" charset="0"/>
              </a:rPr>
              <a:t>Customized Benefit: Oral Chemotherapy</a:t>
            </a:r>
          </a:p>
          <a:p>
            <a:r>
              <a:rPr lang="en-US" sz="1600" dirty="0" smtClean="0">
                <a:latin typeface="Times New Roman" pitchFamily="18" charset="0"/>
                <a:cs typeface="Times New Roman" pitchFamily="18" charset="0"/>
              </a:rPr>
              <a:t>Ambulance Charges</a:t>
            </a:r>
          </a:p>
          <a:p>
            <a:r>
              <a:rPr lang="en-US" sz="1600" dirty="0" smtClean="0">
                <a:latin typeface="Times New Roman" pitchFamily="18" charset="0"/>
                <a:cs typeface="Times New Roman" pitchFamily="18" charset="0"/>
              </a:rPr>
              <a:t>Special Conditions </a:t>
            </a:r>
          </a:p>
          <a:p>
            <a:r>
              <a:rPr lang="en-US" sz="1600" dirty="0" err="1" smtClean="0">
                <a:latin typeface="Times New Roman" pitchFamily="18" charset="0"/>
                <a:cs typeface="Times New Roman" pitchFamily="18" charset="0"/>
              </a:rPr>
              <a:t>Covid</a:t>
            </a:r>
            <a:r>
              <a:rPr lang="en-US" sz="1600" dirty="0" smtClean="0">
                <a:latin typeface="Times New Roman" pitchFamily="18" charset="0"/>
                <a:cs typeface="Times New Roman" pitchFamily="18" charset="0"/>
              </a:rPr>
              <a:t> Home Care </a:t>
            </a:r>
          </a:p>
          <a:p>
            <a:r>
              <a:rPr lang="en-US" sz="1600" dirty="0" smtClean="0">
                <a:latin typeface="Times New Roman" pitchFamily="18" charset="0"/>
                <a:cs typeface="Times New Roman" pitchFamily="18" charset="0"/>
              </a:rPr>
              <a:t>Cashless Hospitalization</a:t>
            </a:r>
          </a:p>
          <a:p>
            <a:r>
              <a:rPr lang="en-US" sz="1600" dirty="0" smtClean="0">
                <a:latin typeface="Times New Roman" pitchFamily="18" charset="0"/>
                <a:cs typeface="Times New Roman" pitchFamily="18" charset="0"/>
              </a:rPr>
              <a:t>Planned hospitalization</a:t>
            </a:r>
          </a:p>
          <a:p>
            <a:r>
              <a:rPr lang="en-US" sz="1600" dirty="0" smtClean="0">
                <a:latin typeface="Times New Roman" pitchFamily="18" charset="0"/>
                <a:cs typeface="Times New Roman" pitchFamily="18" charset="0"/>
              </a:rPr>
              <a:t>Emergency Hospitalization</a:t>
            </a:r>
          </a:p>
          <a:p>
            <a:r>
              <a:rPr lang="en-US" sz="1600" dirty="0" smtClean="0">
                <a:latin typeface="Times New Roman" pitchFamily="18" charset="0"/>
                <a:cs typeface="Times New Roman" pitchFamily="18" charset="0"/>
              </a:rPr>
              <a:t>Non Cashless Hospitalization </a:t>
            </a:r>
            <a:endParaRPr lang="en-IN" sz="1600" dirty="0" smtClean="0">
              <a:latin typeface="Times New Roman" pitchFamily="18" charset="0"/>
              <a:cs typeface="Times New Roman" pitchFamily="18" charset="0"/>
            </a:endParaRPr>
          </a:p>
          <a:p>
            <a:endParaRPr lang="en-IN" dirty="0"/>
          </a:p>
        </p:txBody>
      </p:sp>
      <p:sp>
        <p:nvSpPr>
          <p:cNvPr id="5" name="Text Placeholder 4"/>
          <p:cNvSpPr>
            <a:spLocks noGrp="1"/>
          </p:cNvSpPr>
          <p:nvPr>
            <p:ph type="body" sz="quarter" idx="3"/>
          </p:nvPr>
        </p:nvSpPr>
        <p:spPr>
          <a:xfrm>
            <a:off x="4710248" y="2861246"/>
            <a:ext cx="3822192" cy="639762"/>
          </a:xfrm>
        </p:spPr>
        <p:txBody>
          <a:bodyPr>
            <a:noAutofit/>
          </a:bodyPr>
          <a:lstStyle/>
          <a:p>
            <a:r>
              <a:rPr lang="en-US" dirty="0" smtClean="0">
                <a:latin typeface="Times New Roman" pitchFamily="18" charset="0"/>
                <a:cs typeface="Times New Roman" pitchFamily="18" charset="0"/>
              </a:rPr>
              <a:t>Reimbursement claim forms and submission</a:t>
            </a:r>
            <a:endParaRPr lang="en-IN" dirty="0">
              <a:latin typeface="Times New Roman" pitchFamily="18" charset="0"/>
              <a:cs typeface="Times New Roman" pitchFamily="18" charset="0"/>
            </a:endParaRPr>
          </a:p>
        </p:txBody>
      </p:sp>
      <p:sp>
        <p:nvSpPr>
          <p:cNvPr id="13" name="Content Placeholder 12"/>
          <p:cNvSpPr>
            <a:spLocks noGrp="1"/>
          </p:cNvSpPr>
          <p:nvPr>
            <p:ph sz="quarter" idx="4"/>
          </p:nvPr>
        </p:nvSpPr>
        <p:spPr>
          <a:xfrm>
            <a:off x="4645025" y="3684165"/>
            <a:ext cx="3822192" cy="2697163"/>
          </a:xfrm>
        </p:spPr>
        <p:txBody>
          <a:bodyPr>
            <a:normAutofit/>
          </a:bodyPr>
          <a:lstStyle/>
          <a:p>
            <a:r>
              <a:rPr lang="en-US" sz="1400" dirty="0" smtClean="0">
                <a:latin typeface="Times New Roman" pitchFamily="18" charset="0"/>
                <a:cs typeface="Times New Roman" pitchFamily="18" charset="0"/>
              </a:rPr>
              <a:t>Intimation Mail to be sent within 24Hrs of Hospitalization at </a:t>
            </a:r>
          </a:p>
          <a:p>
            <a:pPr>
              <a:buFontTx/>
              <a:buChar char="-"/>
            </a:pPr>
            <a:r>
              <a:rPr lang="en-US" sz="1400" dirty="0" smtClean="0">
                <a:latin typeface="Times New Roman" pitchFamily="18" charset="0"/>
                <a:cs typeface="Times New Roman" pitchFamily="18" charset="0"/>
                <a:hlinkClick r:id="rId2"/>
              </a:rPr>
              <a:t>delhiclaims@produlentbrokers.com</a:t>
            </a:r>
            <a:r>
              <a:rPr lang="en-US" sz="1400" dirty="0" smtClean="0">
                <a:latin typeface="Times New Roman" pitchFamily="18" charset="0"/>
                <a:cs typeface="Times New Roman" pitchFamily="18" charset="0"/>
              </a:rPr>
              <a:t> and </a:t>
            </a:r>
          </a:p>
          <a:p>
            <a:pPr>
              <a:buFontTx/>
              <a:buChar char="-"/>
            </a:pPr>
            <a:r>
              <a:rPr lang="en-US" sz="1400" dirty="0" smtClean="0">
                <a:latin typeface="Times New Roman" pitchFamily="18" charset="0"/>
                <a:cs typeface="Times New Roman" pitchFamily="18" charset="0"/>
                <a:hlinkClick r:id="rId3"/>
              </a:rPr>
              <a:t>helpdesk2@vidalhealth.com</a:t>
            </a:r>
            <a:r>
              <a:rPr lang="en-US" sz="1400" dirty="0" smtClean="0">
                <a:latin typeface="Times New Roman" pitchFamily="18" charset="0"/>
                <a:cs typeface="Times New Roman" pitchFamily="18" charset="0"/>
              </a:rPr>
              <a:t> </a:t>
            </a:r>
          </a:p>
          <a:p>
            <a:r>
              <a:rPr lang="en-US" sz="1400" dirty="0" smtClean="0">
                <a:latin typeface="Times New Roman" pitchFamily="18" charset="0"/>
                <a:cs typeface="Times New Roman" pitchFamily="18" charset="0"/>
              </a:rPr>
              <a:t>Address To Send the reimbursement claim documents</a:t>
            </a:r>
          </a:p>
          <a:p>
            <a:pPr>
              <a:buFontTx/>
              <a:buChar char="-"/>
            </a:pPr>
            <a:r>
              <a:rPr lang="en-US" sz="1400" dirty="0" smtClean="0">
                <a:latin typeface="Times New Roman" pitchFamily="18" charset="0"/>
                <a:cs typeface="Times New Roman" pitchFamily="18" charset="0"/>
              </a:rPr>
              <a:t>Vidal Health TPA </a:t>
            </a:r>
            <a:r>
              <a:rPr lang="en-US" sz="1400" dirty="0" err="1" smtClean="0">
                <a:latin typeface="Times New Roman" pitchFamily="18" charset="0"/>
                <a:cs typeface="Times New Roman" pitchFamily="18" charset="0"/>
              </a:rPr>
              <a:t>Pvt</a:t>
            </a:r>
            <a:r>
              <a:rPr lang="en-US" sz="1400" dirty="0" smtClean="0">
                <a:latin typeface="Times New Roman" pitchFamily="18" charset="0"/>
                <a:cs typeface="Times New Roman" pitchFamily="18" charset="0"/>
              </a:rPr>
              <a:t> Ltd Plot no 515, </a:t>
            </a:r>
            <a:r>
              <a:rPr lang="en-US" sz="1400" dirty="0" err="1" smtClean="0">
                <a:latin typeface="Times New Roman" pitchFamily="18" charset="0"/>
                <a:cs typeface="Times New Roman" pitchFamily="18" charset="0"/>
              </a:rPr>
              <a:t>udyog</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vihar</a:t>
            </a:r>
            <a:r>
              <a:rPr lang="en-US" sz="1400" dirty="0" smtClean="0">
                <a:latin typeface="Times New Roman" pitchFamily="18" charset="0"/>
                <a:cs typeface="Times New Roman" pitchFamily="18" charset="0"/>
              </a:rPr>
              <a:t>, Phase 5, Gurgaon, Haryana 122016</a:t>
            </a:r>
          </a:p>
          <a:p>
            <a:pPr>
              <a:buFontTx/>
              <a:buChar char="-"/>
            </a:pPr>
            <a:r>
              <a:rPr lang="en-US" sz="1400" dirty="0" err="1" smtClean="0">
                <a:latin typeface="Times New Roman" pitchFamily="18" charset="0"/>
                <a:cs typeface="Times New Roman" pitchFamily="18" charset="0"/>
              </a:rPr>
              <a:t>Pretam</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Kaushik</a:t>
            </a:r>
            <a:r>
              <a:rPr lang="en-US" sz="1400" dirty="0" smtClean="0">
                <a:latin typeface="Times New Roman" pitchFamily="18" charset="0"/>
                <a:cs typeface="Times New Roman" pitchFamily="18" charset="0"/>
              </a:rPr>
              <a:t>(9821882940)</a:t>
            </a:r>
          </a:p>
        </p:txBody>
      </p:sp>
    </p:spTree>
    <p:extLst>
      <p:ext uri="{BB962C8B-B14F-4D97-AF65-F5344CB8AC3E}">
        <p14:creationId xmlns:p14="http://schemas.microsoft.com/office/powerpoint/2010/main" val="13599578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229600" cy="5832648"/>
          </a:xfrm>
        </p:spPr>
        <p:txBody>
          <a:bodyPr>
            <a:normAutofit/>
          </a:bodyPr>
          <a:lstStyle/>
          <a:p>
            <a:r>
              <a:rPr lang="en-US" sz="1400" dirty="0" smtClean="0">
                <a:latin typeface="Times New Roman" pitchFamily="18" charset="0"/>
                <a:cs typeface="Times New Roman" pitchFamily="18" charset="0"/>
              </a:rPr>
              <a:t>Insurer: Reliance General insurance Company limited</a:t>
            </a:r>
          </a:p>
          <a:p>
            <a:r>
              <a:rPr lang="en-US" sz="1400" dirty="0" smtClean="0">
                <a:latin typeface="Times New Roman" pitchFamily="18" charset="0"/>
                <a:cs typeface="Times New Roman" pitchFamily="18" charset="0"/>
              </a:rPr>
              <a:t>TPA: Vidal Health Insurance TPA </a:t>
            </a:r>
            <a:r>
              <a:rPr lang="en-US" sz="1400" dirty="0" err="1" smtClean="0">
                <a:latin typeface="Times New Roman" pitchFamily="18" charset="0"/>
                <a:cs typeface="Times New Roman" pitchFamily="18" charset="0"/>
              </a:rPr>
              <a:t>Pvt</a:t>
            </a:r>
            <a:r>
              <a:rPr lang="en-US" sz="1400" dirty="0" smtClean="0">
                <a:latin typeface="Times New Roman" pitchFamily="18" charset="0"/>
                <a:cs typeface="Times New Roman" pitchFamily="18" charset="0"/>
              </a:rPr>
              <a:t> Ltd</a:t>
            </a:r>
          </a:p>
          <a:p>
            <a:r>
              <a:rPr lang="en-US" sz="1400" dirty="0" smtClean="0">
                <a:latin typeface="Times New Roman" pitchFamily="18" charset="0"/>
                <a:cs typeface="Times New Roman" pitchFamily="18" charset="0"/>
              </a:rPr>
              <a:t>Service Partner: Prudent Insurance Brokers Private Limited </a:t>
            </a:r>
          </a:p>
          <a:p>
            <a:r>
              <a:rPr lang="en-US" sz="1400" dirty="0" smtClean="0">
                <a:latin typeface="Times New Roman" pitchFamily="18" charset="0"/>
                <a:cs typeface="Times New Roman" pitchFamily="18" charset="0"/>
              </a:rPr>
              <a:t>Policy Period: 1</a:t>
            </a:r>
            <a:r>
              <a:rPr lang="en-US" sz="1400" baseline="30000" dirty="0" smtClean="0">
                <a:latin typeface="Times New Roman" pitchFamily="18" charset="0"/>
                <a:cs typeface="Times New Roman" pitchFamily="18" charset="0"/>
              </a:rPr>
              <a:t>st</a:t>
            </a:r>
            <a:r>
              <a:rPr lang="en-US" sz="1400" dirty="0" smtClean="0">
                <a:latin typeface="Times New Roman" pitchFamily="18" charset="0"/>
                <a:cs typeface="Times New Roman" pitchFamily="18" charset="0"/>
              </a:rPr>
              <a:t> April’2023 to 31</a:t>
            </a:r>
            <a:r>
              <a:rPr lang="en-US" sz="1400" baseline="30000" dirty="0" smtClean="0">
                <a:latin typeface="Times New Roman" pitchFamily="18" charset="0"/>
                <a:cs typeface="Times New Roman" pitchFamily="18" charset="0"/>
              </a:rPr>
              <a:t>st</a:t>
            </a:r>
            <a:r>
              <a:rPr lang="en-US" sz="1400" dirty="0" smtClean="0">
                <a:latin typeface="Times New Roman" pitchFamily="18" charset="0"/>
                <a:cs typeface="Times New Roman" pitchFamily="18" charset="0"/>
              </a:rPr>
              <a:t> March’2024</a:t>
            </a:r>
          </a:p>
          <a:p>
            <a:r>
              <a:rPr lang="en-US" sz="1400" dirty="0" smtClean="0">
                <a:latin typeface="Times New Roman" pitchFamily="18" charset="0"/>
                <a:cs typeface="Times New Roman" pitchFamily="18" charset="0"/>
              </a:rPr>
              <a:t>Family Definition: Self+Spouse+2Children(Up to 25Yrs)+2 Parents/in laws(Either set of Parents) &amp;coverage of 3</a:t>
            </a:r>
            <a:r>
              <a:rPr lang="en-US" sz="1400" baseline="30000" dirty="0" smtClean="0">
                <a:latin typeface="Times New Roman" pitchFamily="18" charset="0"/>
                <a:cs typeface="Times New Roman" pitchFamily="18" charset="0"/>
              </a:rPr>
              <a:t>rd</a:t>
            </a:r>
            <a:r>
              <a:rPr lang="en-US" sz="1400" dirty="0" smtClean="0">
                <a:latin typeface="Times New Roman" pitchFamily="18" charset="0"/>
                <a:cs typeface="Times New Roman" pitchFamily="18" charset="0"/>
              </a:rPr>
              <a:t> &amp; 4</a:t>
            </a:r>
            <a:r>
              <a:rPr lang="en-US" sz="1400" baseline="30000" dirty="0" smtClean="0">
                <a:latin typeface="Times New Roman" pitchFamily="18" charset="0"/>
                <a:cs typeface="Times New Roman" pitchFamily="18" charset="0"/>
              </a:rPr>
              <a:t>th</a:t>
            </a:r>
            <a:r>
              <a:rPr lang="en-US" sz="1400" dirty="0" smtClean="0">
                <a:latin typeface="Times New Roman" pitchFamily="18" charset="0"/>
                <a:cs typeface="Times New Roman" pitchFamily="18" charset="0"/>
              </a:rPr>
              <a:t> child by paying additional premium of INR </a:t>
            </a:r>
            <a:r>
              <a:rPr lang="en-US" sz="1400" dirty="0" smtClean="0">
                <a:latin typeface="Times New Roman" pitchFamily="18" charset="0"/>
                <a:cs typeface="Times New Roman" pitchFamily="18" charset="0"/>
              </a:rPr>
              <a:t>1,120+GST</a:t>
            </a:r>
          </a:p>
          <a:p>
            <a:pPr marL="0" lvl="0" indent="0">
              <a:spcBef>
                <a:spcPts val="0"/>
              </a:spcBef>
              <a:buNone/>
            </a:pPr>
            <a:r>
              <a:rPr lang="en-US" sz="1400" dirty="0" smtClean="0">
                <a:latin typeface="Times New Roman" pitchFamily="18" charset="0"/>
                <a:cs typeface="Times New Roman" pitchFamily="18" charset="0"/>
              </a:rPr>
              <a:t> </a:t>
            </a:r>
            <a:r>
              <a:rPr lang="en-US" sz="1400" b="1" dirty="0" smtClean="0">
                <a:solidFill>
                  <a:prstClr val="white"/>
                </a:solidFill>
                <a:latin typeface="Times New Roman" pitchFamily="18" charset="0"/>
                <a:cs typeface="Times New Roman" pitchFamily="18" charset="0"/>
              </a:rPr>
              <a:t>Sum</a:t>
            </a:r>
            <a:endParaRPr lang="en-IN" dirty="0">
              <a:latin typeface="Times New Roman" pitchFamily="18" charset="0"/>
              <a:cs typeface="Times New Roman" pitchFamily="18" charset="0"/>
            </a:endParaRPr>
          </a:p>
          <a:p>
            <a:pPr marL="0" indent="0">
              <a:buNone/>
            </a:pPr>
            <a:endParaRPr lang="en-IN" dirty="0"/>
          </a:p>
        </p:txBody>
      </p:sp>
      <p:sp>
        <p:nvSpPr>
          <p:cNvPr id="2" name="Title 1"/>
          <p:cNvSpPr>
            <a:spLocks noGrp="1"/>
          </p:cNvSpPr>
          <p:nvPr>
            <p:ph type="title"/>
          </p:nvPr>
        </p:nvSpPr>
        <p:spPr>
          <a:xfrm>
            <a:off x="395536" y="116632"/>
            <a:ext cx="8229600" cy="720080"/>
          </a:xfrm>
        </p:spPr>
        <p:txBody>
          <a:bodyPr>
            <a:normAutofit/>
          </a:bodyPr>
          <a:lstStyle/>
          <a:p>
            <a:pPr algn="l"/>
            <a:r>
              <a:rPr lang="en-US" sz="1800" b="1" dirty="0" smtClean="0">
                <a:latin typeface="Times New Roman" pitchFamily="18" charset="0"/>
                <a:cs typeface="Times New Roman" pitchFamily="18" charset="0"/>
              </a:rPr>
              <a:t>Policy Parameters</a:t>
            </a:r>
            <a:endParaRPr lang="en-IN" sz="1800" b="1"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057959392"/>
              </p:ext>
            </p:extLst>
          </p:nvPr>
        </p:nvGraphicFramePr>
        <p:xfrm>
          <a:off x="755576" y="2492896"/>
          <a:ext cx="7416824" cy="1806939"/>
        </p:xfrm>
        <a:graphic>
          <a:graphicData uri="http://schemas.openxmlformats.org/drawingml/2006/table">
            <a:tbl>
              <a:tblPr firstRow="1" bandRow="1">
                <a:tableStyleId>{5C22544A-7EE6-4342-B048-85BDC9FD1C3A}</a:tableStyleId>
              </a:tblPr>
              <a:tblGrid>
                <a:gridCol w="1513638"/>
                <a:gridCol w="5903186"/>
              </a:tblGrid>
              <a:tr h="250515">
                <a:tc>
                  <a:txBody>
                    <a:bodyPr/>
                    <a:lstStyle/>
                    <a:p>
                      <a:r>
                        <a:rPr lang="en-US" sz="1400" dirty="0" smtClean="0">
                          <a:latin typeface="Times New Roman" pitchFamily="18" charset="0"/>
                          <a:cs typeface="Times New Roman" pitchFamily="18" charset="0"/>
                        </a:rPr>
                        <a:t>Sum Insurances</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Designation</a:t>
                      </a:r>
                      <a:endParaRPr lang="en-IN" sz="1400" dirty="0">
                        <a:latin typeface="Times New Roman" pitchFamily="18" charset="0"/>
                        <a:cs typeface="Times New Roman" pitchFamily="18" charset="0"/>
                      </a:endParaRPr>
                    </a:p>
                  </a:txBody>
                  <a:tcPr/>
                </a:tc>
              </a:tr>
              <a:tr h="587739">
                <a:tc>
                  <a:txBody>
                    <a:bodyPr/>
                    <a:lstStyle/>
                    <a:p>
                      <a:r>
                        <a:rPr lang="en-US" sz="1400" dirty="0" smtClean="0">
                          <a:latin typeface="Times New Roman" pitchFamily="18" charset="0"/>
                          <a:cs typeface="Times New Roman" pitchFamily="18" charset="0"/>
                        </a:rPr>
                        <a:t>INR 3,00,000</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Engineer, Sr.</a:t>
                      </a:r>
                      <a:r>
                        <a:rPr lang="en-US" sz="1400" baseline="0" dirty="0" smtClean="0">
                          <a:latin typeface="Times New Roman" pitchFamily="18" charset="0"/>
                          <a:cs typeface="Times New Roman" pitchFamily="18" charset="0"/>
                        </a:rPr>
                        <a:t> </a:t>
                      </a:r>
                      <a:r>
                        <a:rPr lang="en-US" sz="1400" dirty="0" smtClean="0">
                          <a:latin typeface="Times New Roman" pitchFamily="18" charset="0"/>
                          <a:cs typeface="Times New Roman" pitchFamily="18" charset="0"/>
                        </a:rPr>
                        <a:t>Engineer,  Executive, Sr. Executive, Assistant</a:t>
                      </a:r>
                      <a:r>
                        <a:rPr lang="en-US" sz="1400" baseline="0" dirty="0" smtClean="0">
                          <a:latin typeface="Times New Roman" pitchFamily="18" charset="0"/>
                          <a:cs typeface="Times New Roman" pitchFamily="18" charset="0"/>
                        </a:rPr>
                        <a:t> Manager, Manager</a:t>
                      </a:r>
                      <a:endParaRPr lang="en-IN" sz="1400" dirty="0">
                        <a:latin typeface="Times New Roman" pitchFamily="18" charset="0"/>
                        <a:cs typeface="Times New Roman" pitchFamily="18" charset="0"/>
                      </a:endParaRPr>
                    </a:p>
                  </a:txBody>
                  <a:tcPr/>
                </a:tc>
              </a:tr>
              <a:tr h="250515">
                <a:tc>
                  <a:txBody>
                    <a:bodyPr/>
                    <a:lstStyle/>
                    <a:p>
                      <a:r>
                        <a:rPr lang="en-US" sz="1400" dirty="0" smtClean="0">
                          <a:latin typeface="Times New Roman" pitchFamily="18" charset="0"/>
                          <a:cs typeface="Times New Roman" pitchFamily="18" charset="0"/>
                        </a:rPr>
                        <a:t>INR 5,00,000</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Sr. manager, DGM</a:t>
                      </a:r>
                    </a:p>
                  </a:txBody>
                  <a:tcPr/>
                </a:tc>
              </a:tr>
              <a:tr h="250515">
                <a:tc>
                  <a:txBody>
                    <a:bodyPr/>
                    <a:lstStyle/>
                    <a:p>
                      <a:r>
                        <a:rPr lang="en-US" sz="1400" dirty="0" smtClean="0">
                          <a:latin typeface="Times New Roman" pitchFamily="18" charset="0"/>
                          <a:cs typeface="Times New Roman" pitchFamily="18" charset="0"/>
                        </a:rPr>
                        <a:t>INR</a:t>
                      </a:r>
                      <a:r>
                        <a:rPr lang="en-US" sz="1400" baseline="0" dirty="0" smtClean="0">
                          <a:latin typeface="Times New Roman" pitchFamily="18" charset="0"/>
                          <a:cs typeface="Times New Roman" pitchFamily="18" charset="0"/>
                        </a:rPr>
                        <a:t> 7,00,000</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GM,</a:t>
                      </a:r>
                      <a:r>
                        <a:rPr lang="en-US" sz="1400" baseline="0" dirty="0" smtClean="0">
                          <a:latin typeface="Times New Roman" pitchFamily="18" charset="0"/>
                          <a:cs typeface="Times New Roman" pitchFamily="18" charset="0"/>
                        </a:rPr>
                        <a:t> VP</a:t>
                      </a:r>
                    </a:p>
                  </a:txBody>
                  <a:tcPr/>
                </a:tc>
              </a:tr>
              <a:tr h="244891">
                <a:tc>
                  <a:txBody>
                    <a:bodyPr/>
                    <a:lstStyle/>
                    <a:p>
                      <a:r>
                        <a:rPr lang="en-US" sz="1400" dirty="0" smtClean="0">
                          <a:latin typeface="Times New Roman" pitchFamily="18" charset="0"/>
                          <a:cs typeface="Times New Roman" pitchFamily="18" charset="0"/>
                        </a:rPr>
                        <a:t>INR</a:t>
                      </a:r>
                      <a:r>
                        <a:rPr lang="en-US" sz="1400" baseline="0" dirty="0" smtClean="0">
                          <a:latin typeface="Times New Roman" pitchFamily="18" charset="0"/>
                          <a:cs typeface="Times New Roman" pitchFamily="18" charset="0"/>
                        </a:rPr>
                        <a:t> 10,00,000</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SVP,</a:t>
                      </a:r>
                      <a:r>
                        <a:rPr lang="en-US" sz="1400" baseline="0" dirty="0" smtClean="0">
                          <a:latin typeface="Times New Roman" pitchFamily="18" charset="0"/>
                          <a:cs typeface="Times New Roman" pitchFamily="18" charset="0"/>
                        </a:rPr>
                        <a:t> UC</a:t>
                      </a:r>
                      <a:endParaRPr lang="en-IN" sz="1400" dirty="0">
                        <a:latin typeface="Times New Roman" pitchFamily="18" charset="0"/>
                        <a:cs typeface="Times New Roman" pitchFamily="18" charset="0"/>
                      </a:endParaRPr>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757410391"/>
              </p:ext>
            </p:extLst>
          </p:nvPr>
        </p:nvGraphicFramePr>
        <p:xfrm>
          <a:off x="755576" y="4437112"/>
          <a:ext cx="4824536" cy="1964435"/>
        </p:xfrm>
        <a:graphic>
          <a:graphicData uri="http://schemas.openxmlformats.org/drawingml/2006/table">
            <a:tbl>
              <a:tblPr firstRow="1" bandRow="1">
                <a:tableStyleId>{5C22544A-7EE6-4342-B048-85BDC9FD1C3A}</a:tableStyleId>
              </a:tblPr>
              <a:tblGrid>
                <a:gridCol w="1489930"/>
                <a:gridCol w="3334606"/>
              </a:tblGrid>
              <a:tr h="440435">
                <a:tc>
                  <a:txBody>
                    <a:bodyPr/>
                    <a:lstStyle/>
                    <a:p>
                      <a:r>
                        <a:rPr lang="en-US" sz="1400" dirty="0" smtClean="0">
                          <a:latin typeface="Times New Roman" pitchFamily="18" charset="0"/>
                          <a:cs typeface="Times New Roman" pitchFamily="18" charset="0"/>
                        </a:rPr>
                        <a:t>Sum Insurances</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Top Up Rater(</a:t>
                      </a:r>
                      <a:r>
                        <a:rPr lang="en-US" sz="1400" dirty="0" err="1" smtClean="0">
                          <a:latin typeface="Times New Roman" pitchFamily="18" charset="0"/>
                          <a:cs typeface="Times New Roman" pitchFamily="18" charset="0"/>
                        </a:rPr>
                        <a:t>Excl</a:t>
                      </a:r>
                      <a:r>
                        <a:rPr lang="en-US" sz="1400" dirty="0" smtClean="0">
                          <a:latin typeface="Times New Roman" pitchFamily="18" charset="0"/>
                          <a:cs typeface="Times New Roman" pitchFamily="18" charset="0"/>
                        </a:rPr>
                        <a:t> 18% GST)</a:t>
                      </a:r>
                      <a:endParaRPr lang="en-IN" sz="1400" dirty="0">
                        <a:latin typeface="Times New Roman" pitchFamily="18" charset="0"/>
                        <a:cs typeface="Times New Roman" pitchFamily="18" charset="0"/>
                      </a:endParaRPr>
                    </a:p>
                  </a:txBody>
                  <a:tcPr/>
                </a:tc>
              </a:tr>
              <a:tr h="286355">
                <a:tc>
                  <a:txBody>
                    <a:bodyPr/>
                    <a:lstStyle/>
                    <a:p>
                      <a:r>
                        <a:rPr lang="en-US" sz="1400" dirty="0" smtClean="0">
                          <a:latin typeface="Times New Roman" pitchFamily="18" charset="0"/>
                          <a:cs typeface="Times New Roman" pitchFamily="18" charset="0"/>
                        </a:rPr>
                        <a:t>INR 2,00,000</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5,141</a:t>
                      </a:r>
                      <a:endParaRPr lang="en-IN" sz="1400" dirty="0">
                        <a:latin typeface="Times New Roman" pitchFamily="18" charset="0"/>
                        <a:cs typeface="Times New Roman" pitchFamily="18" charset="0"/>
                      </a:endParaRPr>
                    </a:p>
                  </a:txBody>
                  <a:tcPr/>
                </a:tc>
              </a:tr>
              <a:tr h="286355">
                <a:tc>
                  <a:txBody>
                    <a:bodyPr/>
                    <a:lstStyle/>
                    <a:p>
                      <a:r>
                        <a:rPr lang="en-US" sz="1400" dirty="0" smtClean="0">
                          <a:latin typeface="Times New Roman" pitchFamily="18" charset="0"/>
                          <a:cs typeface="Times New Roman" pitchFamily="18" charset="0"/>
                        </a:rPr>
                        <a:t>INR 4,00,000</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8,044</a:t>
                      </a:r>
                      <a:endParaRPr lang="en-IN" sz="1400" dirty="0">
                        <a:latin typeface="Times New Roman" pitchFamily="18" charset="0"/>
                        <a:cs typeface="Times New Roman" pitchFamily="18" charset="0"/>
                      </a:endParaRPr>
                    </a:p>
                  </a:txBody>
                  <a:tcPr/>
                </a:tc>
              </a:tr>
              <a:tr h="286355">
                <a:tc>
                  <a:txBody>
                    <a:bodyPr/>
                    <a:lstStyle/>
                    <a:p>
                      <a:r>
                        <a:rPr lang="en-US" sz="1400" dirty="0" smtClean="0">
                          <a:latin typeface="Times New Roman" pitchFamily="18" charset="0"/>
                          <a:cs typeface="Times New Roman" pitchFamily="18" charset="0"/>
                        </a:rPr>
                        <a:t>INR 6,00,000</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12,585</a:t>
                      </a:r>
                      <a:endParaRPr lang="en-IN" sz="1400" dirty="0">
                        <a:latin typeface="Times New Roman" pitchFamily="18" charset="0"/>
                        <a:cs typeface="Times New Roman" pitchFamily="18" charset="0"/>
                      </a:endParaRPr>
                    </a:p>
                  </a:txBody>
                  <a:tcPr/>
                </a:tc>
              </a:tr>
              <a:tr h="286355">
                <a:tc>
                  <a:txBody>
                    <a:bodyPr/>
                    <a:lstStyle/>
                    <a:p>
                      <a:r>
                        <a:rPr lang="en-US" sz="1400" dirty="0" smtClean="0">
                          <a:latin typeface="Times New Roman" pitchFamily="18" charset="0"/>
                          <a:cs typeface="Times New Roman" pitchFamily="18" charset="0"/>
                        </a:rPr>
                        <a:t>INR 8,00,000</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19,689</a:t>
                      </a:r>
                      <a:endParaRPr lang="en-IN" sz="1400" dirty="0">
                        <a:latin typeface="Times New Roman" pitchFamily="18" charset="0"/>
                        <a:cs typeface="Times New Roman" pitchFamily="18" charset="0"/>
                      </a:endParaRPr>
                    </a:p>
                  </a:txBody>
                  <a:tcPr/>
                </a:tc>
              </a:tr>
              <a:tr h="286355">
                <a:tc>
                  <a:txBody>
                    <a:bodyPr/>
                    <a:lstStyle/>
                    <a:p>
                      <a:r>
                        <a:rPr lang="en-US" sz="1400" dirty="0" smtClean="0">
                          <a:latin typeface="Times New Roman" pitchFamily="18" charset="0"/>
                          <a:cs typeface="Times New Roman" pitchFamily="18" charset="0"/>
                        </a:rPr>
                        <a:t>INR 10,00,000</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26,974</a:t>
                      </a:r>
                      <a:endParaRPr lang="en-IN" sz="1400"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34053093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0768"/>
            <a:ext cx="8229600" cy="4785395"/>
          </a:xfrm>
        </p:spPr>
        <p:txBody>
          <a:bodyPr>
            <a:normAutofit/>
          </a:bodyPr>
          <a:lstStyle/>
          <a:p>
            <a:r>
              <a:rPr lang="en-US" sz="1400" dirty="0" smtClean="0">
                <a:latin typeface="Times New Roman" pitchFamily="18" charset="0"/>
                <a:cs typeface="Times New Roman" pitchFamily="18" charset="0"/>
              </a:rPr>
              <a:t>All employees are being provided with a personnel Accident insurance policy through Reliance General insurance based on company rules.</a:t>
            </a:r>
          </a:p>
          <a:p>
            <a:pPr marL="0" indent="0">
              <a:buNone/>
            </a:pPr>
            <a:r>
              <a:rPr lang="en-US" sz="1600" b="1" dirty="0" smtClean="0">
                <a:latin typeface="Times New Roman" pitchFamily="18" charset="0"/>
                <a:cs typeface="Times New Roman" pitchFamily="18" charset="0"/>
              </a:rPr>
              <a:t>Policy Parameter:</a:t>
            </a:r>
          </a:p>
          <a:p>
            <a:pPr marL="0" indent="0">
              <a:buNone/>
            </a:pPr>
            <a:endParaRPr lang="en-US" sz="1600" b="1" dirty="0">
              <a:latin typeface="Times New Roman" pitchFamily="18" charset="0"/>
              <a:cs typeface="Times New Roman" pitchFamily="18" charset="0"/>
            </a:endParaRPr>
          </a:p>
          <a:p>
            <a:pPr marL="0" indent="0">
              <a:buNone/>
            </a:pPr>
            <a:endParaRPr lang="en-US" sz="1600" b="1" dirty="0" smtClean="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smtClean="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smtClean="0">
              <a:latin typeface="Times New Roman" pitchFamily="18" charset="0"/>
              <a:cs typeface="Times New Roman" pitchFamily="18" charset="0"/>
            </a:endParaRPr>
          </a:p>
          <a:p>
            <a:pPr marL="0" indent="0">
              <a:buNone/>
            </a:pPr>
            <a:r>
              <a:rPr lang="en-US" sz="1600" b="1" dirty="0" smtClean="0">
                <a:latin typeface="Times New Roman" pitchFamily="18" charset="0"/>
                <a:cs typeface="Times New Roman" pitchFamily="18" charset="0"/>
              </a:rPr>
              <a:t>GPA Coverage Band Wise:</a:t>
            </a:r>
          </a:p>
          <a:p>
            <a:pPr marL="0" indent="0">
              <a:buNone/>
            </a:pPr>
            <a:endParaRPr lang="en-IN" sz="1600" b="1" dirty="0">
              <a:latin typeface="Times New Roman" pitchFamily="18" charset="0"/>
              <a:cs typeface="Times New Roman" pitchFamily="18" charset="0"/>
            </a:endParaRPr>
          </a:p>
        </p:txBody>
      </p:sp>
      <p:sp>
        <p:nvSpPr>
          <p:cNvPr id="2" name="Title 1"/>
          <p:cNvSpPr>
            <a:spLocks noGrp="1"/>
          </p:cNvSpPr>
          <p:nvPr>
            <p:ph type="title"/>
          </p:nvPr>
        </p:nvSpPr>
        <p:spPr>
          <a:xfrm>
            <a:off x="457200" y="274638"/>
            <a:ext cx="8229600" cy="778098"/>
          </a:xfrm>
        </p:spPr>
        <p:txBody>
          <a:bodyPr>
            <a:normAutofit/>
          </a:bodyPr>
          <a:lstStyle/>
          <a:p>
            <a:pPr algn="l"/>
            <a:r>
              <a:rPr lang="en-US" sz="2800" b="1" dirty="0" smtClean="0">
                <a:latin typeface="Times New Roman" pitchFamily="18" charset="0"/>
                <a:cs typeface="Times New Roman" pitchFamily="18" charset="0"/>
              </a:rPr>
              <a:t>Group Personal Accidental</a:t>
            </a:r>
            <a:endParaRPr lang="en-IN" sz="2800" b="1"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81142719"/>
              </p:ext>
            </p:extLst>
          </p:nvPr>
        </p:nvGraphicFramePr>
        <p:xfrm>
          <a:off x="899592" y="2276872"/>
          <a:ext cx="6192688" cy="1483360"/>
        </p:xfrm>
        <a:graphic>
          <a:graphicData uri="http://schemas.openxmlformats.org/drawingml/2006/table">
            <a:tbl>
              <a:tblPr firstRow="1" bandRow="1">
                <a:tableStyleId>{5C22544A-7EE6-4342-B048-85BDC9FD1C3A}</a:tableStyleId>
              </a:tblPr>
              <a:tblGrid>
                <a:gridCol w="1669938"/>
                <a:gridCol w="4522750"/>
              </a:tblGrid>
              <a:tr h="370840">
                <a:tc>
                  <a:txBody>
                    <a:bodyPr/>
                    <a:lstStyle/>
                    <a:p>
                      <a:r>
                        <a:rPr lang="en-US" sz="1400" dirty="0" smtClean="0">
                          <a:latin typeface="Times New Roman" pitchFamily="18" charset="0"/>
                          <a:cs typeface="Times New Roman" pitchFamily="18" charset="0"/>
                        </a:rPr>
                        <a:t>Insurer</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Reliance General Insurance company</a:t>
                      </a:r>
                      <a:r>
                        <a:rPr lang="en-US" sz="1400" baseline="0" dirty="0" smtClean="0">
                          <a:latin typeface="Times New Roman" pitchFamily="18" charset="0"/>
                          <a:cs typeface="Times New Roman" pitchFamily="18" charset="0"/>
                        </a:rPr>
                        <a:t> limited</a:t>
                      </a:r>
                      <a:endParaRPr lang="en-IN" sz="1400" dirty="0">
                        <a:latin typeface="Times New Roman" pitchFamily="18" charset="0"/>
                        <a:cs typeface="Times New Roman" pitchFamily="18" charset="0"/>
                      </a:endParaRPr>
                    </a:p>
                  </a:txBody>
                  <a:tcPr/>
                </a:tc>
              </a:tr>
              <a:tr h="370840">
                <a:tc>
                  <a:txBody>
                    <a:bodyPr/>
                    <a:lstStyle/>
                    <a:p>
                      <a:r>
                        <a:rPr lang="en-US" sz="1400" dirty="0" smtClean="0">
                          <a:latin typeface="Times New Roman" pitchFamily="18" charset="0"/>
                          <a:cs typeface="Times New Roman" pitchFamily="18" charset="0"/>
                        </a:rPr>
                        <a:t>Policy start date</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01/04/2023</a:t>
                      </a:r>
                      <a:endParaRPr lang="en-IN" sz="1400" dirty="0">
                        <a:latin typeface="Times New Roman" pitchFamily="18" charset="0"/>
                        <a:cs typeface="Times New Roman" pitchFamily="18" charset="0"/>
                      </a:endParaRPr>
                    </a:p>
                  </a:txBody>
                  <a:tcPr/>
                </a:tc>
              </a:tr>
              <a:tr h="370840">
                <a:tc>
                  <a:txBody>
                    <a:bodyPr/>
                    <a:lstStyle/>
                    <a:p>
                      <a:r>
                        <a:rPr lang="en-US" sz="1400" dirty="0" smtClean="0">
                          <a:latin typeface="Times New Roman" pitchFamily="18" charset="0"/>
                          <a:cs typeface="Times New Roman" pitchFamily="18" charset="0"/>
                        </a:rPr>
                        <a:t>Policy End</a:t>
                      </a:r>
                      <a:r>
                        <a:rPr lang="en-US" sz="1400" baseline="0" dirty="0" smtClean="0">
                          <a:latin typeface="Times New Roman" pitchFamily="18" charset="0"/>
                          <a:cs typeface="Times New Roman" pitchFamily="18" charset="0"/>
                        </a:rPr>
                        <a:t> date</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31/03/2024</a:t>
                      </a:r>
                      <a:endParaRPr lang="en-IN" sz="1400" dirty="0">
                        <a:latin typeface="Times New Roman" pitchFamily="18" charset="0"/>
                        <a:cs typeface="Times New Roman" pitchFamily="18" charset="0"/>
                      </a:endParaRPr>
                    </a:p>
                  </a:txBody>
                  <a:tcPr/>
                </a:tc>
              </a:tr>
              <a:tr h="370840">
                <a:tc>
                  <a:txBody>
                    <a:bodyPr/>
                    <a:lstStyle/>
                    <a:p>
                      <a:r>
                        <a:rPr lang="en-US" sz="1400" dirty="0" smtClean="0">
                          <a:latin typeface="Times New Roman" pitchFamily="18" charset="0"/>
                          <a:cs typeface="Times New Roman" pitchFamily="18" charset="0"/>
                        </a:rPr>
                        <a:t>Sum Insured </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Graded</a:t>
                      </a:r>
                      <a:endParaRPr lang="en-IN" sz="1400" dirty="0">
                        <a:latin typeface="Times New Roman" pitchFamily="18" charset="0"/>
                        <a:cs typeface="Times New Roman" pitchFamily="18" charset="0"/>
                      </a:endParaRPr>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396276085"/>
              </p:ext>
            </p:extLst>
          </p:nvPr>
        </p:nvGraphicFramePr>
        <p:xfrm>
          <a:off x="107505" y="4437112"/>
          <a:ext cx="8784977" cy="1279768"/>
        </p:xfrm>
        <a:graphic>
          <a:graphicData uri="http://schemas.openxmlformats.org/drawingml/2006/table">
            <a:tbl>
              <a:tblPr firstCol="1" bandRow="1">
                <a:tableStyleId>{5C22544A-7EE6-4342-B048-85BDC9FD1C3A}</a:tableStyleId>
              </a:tblPr>
              <a:tblGrid>
                <a:gridCol w="861977"/>
                <a:gridCol w="1127202"/>
                <a:gridCol w="1392425"/>
                <a:gridCol w="1060896"/>
                <a:gridCol w="928284"/>
                <a:gridCol w="928284"/>
                <a:gridCol w="663059"/>
                <a:gridCol w="663059"/>
                <a:gridCol w="583725"/>
                <a:gridCol w="576066"/>
              </a:tblGrid>
              <a:tr h="639688">
                <a:tc>
                  <a:txBody>
                    <a:bodyPr/>
                    <a:lstStyle/>
                    <a:p>
                      <a:pPr algn="ctr"/>
                      <a:r>
                        <a:rPr lang="en-US" sz="1200" b="1" dirty="0" smtClean="0">
                          <a:latin typeface="Times New Roman" pitchFamily="18" charset="0"/>
                          <a:cs typeface="Times New Roman" pitchFamily="18" charset="0"/>
                        </a:rPr>
                        <a:t>Employee</a:t>
                      </a:r>
                    </a:p>
                    <a:p>
                      <a:pPr algn="ctr"/>
                      <a:r>
                        <a:rPr lang="en-US" sz="1200" b="1" dirty="0" smtClean="0">
                          <a:latin typeface="Times New Roman" pitchFamily="18" charset="0"/>
                          <a:cs typeface="Times New Roman" pitchFamily="18" charset="0"/>
                        </a:rPr>
                        <a:t> Band </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Engineer &amp; Sr. </a:t>
                      </a:r>
                      <a:r>
                        <a:rPr lang="en-US" sz="1200" b="1" dirty="0" err="1" smtClean="0">
                          <a:latin typeface="Times New Roman" pitchFamily="18" charset="0"/>
                          <a:cs typeface="Times New Roman" pitchFamily="18" charset="0"/>
                        </a:rPr>
                        <a:t>Enginneer</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Executive</a:t>
                      </a:r>
                    </a:p>
                    <a:p>
                      <a:pPr algn="ctr"/>
                      <a:r>
                        <a:rPr lang="en-US" sz="1200" b="1" baseline="0" dirty="0" smtClean="0">
                          <a:latin typeface="Times New Roman" pitchFamily="18" charset="0"/>
                          <a:cs typeface="Times New Roman" pitchFamily="18" charset="0"/>
                        </a:rPr>
                        <a:t>+ </a:t>
                      </a:r>
                    </a:p>
                    <a:p>
                      <a:pPr algn="ctr"/>
                      <a:r>
                        <a:rPr lang="en-IN" sz="1200" b="1" baseline="0" dirty="0" err="1" smtClean="0">
                          <a:latin typeface="Times New Roman" pitchFamily="18" charset="0"/>
                          <a:cs typeface="Times New Roman" pitchFamily="18" charset="0"/>
                        </a:rPr>
                        <a:t>Sr.Executive</a:t>
                      </a:r>
                      <a:r>
                        <a:rPr lang="en-IN" sz="1200" b="1" baseline="0" dirty="0" smtClean="0">
                          <a:latin typeface="Times New Roman" pitchFamily="18" charset="0"/>
                          <a:cs typeface="Times New Roman" pitchFamily="18" charset="0"/>
                        </a:rPr>
                        <a:t> </a:t>
                      </a:r>
                      <a:endParaRPr lang="en-US" sz="1200" b="1" baseline="0" dirty="0" smtClean="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Assistant Manager</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Manager</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Senior</a:t>
                      </a:r>
                    </a:p>
                    <a:p>
                      <a:pPr algn="ctr"/>
                      <a:r>
                        <a:rPr lang="en-US" sz="1200" b="1" dirty="0" smtClean="0">
                          <a:latin typeface="Times New Roman" pitchFamily="18" charset="0"/>
                          <a:cs typeface="Times New Roman" pitchFamily="18" charset="0"/>
                        </a:rPr>
                        <a:t>Manager</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DGM</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GM</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VP</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Sr. VP &amp; UC</a:t>
                      </a:r>
                      <a:endParaRPr lang="en-IN" sz="1200" b="1" dirty="0">
                        <a:latin typeface="Times New Roman" pitchFamily="18" charset="0"/>
                        <a:cs typeface="Times New Roman" pitchFamily="18" charset="0"/>
                      </a:endParaRPr>
                    </a:p>
                  </a:txBody>
                  <a:tcPr/>
                </a:tc>
              </a:tr>
              <a:tr h="639688">
                <a:tc>
                  <a:txBody>
                    <a:bodyPr/>
                    <a:lstStyle/>
                    <a:p>
                      <a:pPr algn="ctr"/>
                      <a:r>
                        <a:rPr lang="en-US" sz="1200" b="1" dirty="0" smtClean="0">
                          <a:latin typeface="Times New Roman" pitchFamily="18" charset="0"/>
                          <a:cs typeface="Times New Roman" pitchFamily="18" charset="0"/>
                        </a:rPr>
                        <a:t>Coverage </a:t>
                      </a:r>
                    </a:p>
                    <a:p>
                      <a:pPr algn="ctr"/>
                      <a:r>
                        <a:rPr lang="en-US" sz="1200" b="1" dirty="0" smtClean="0">
                          <a:latin typeface="Times New Roman" pitchFamily="18" charset="0"/>
                          <a:cs typeface="Times New Roman" pitchFamily="18" charset="0"/>
                        </a:rPr>
                        <a:t>amount </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32.5 lakhs</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32.5 lakhs</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40lakhs</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70lakhs</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90lakhs</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1.1</a:t>
                      </a:r>
                      <a:r>
                        <a:rPr lang="en-US" sz="1200" b="1" baseline="0"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crore</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2</a:t>
                      </a:r>
                      <a:r>
                        <a:rPr lang="en-US" sz="1200" b="1" baseline="0" dirty="0" smtClean="0">
                          <a:latin typeface="Times New Roman" pitchFamily="18" charset="0"/>
                          <a:cs typeface="Times New Roman" pitchFamily="18" charset="0"/>
                        </a:rPr>
                        <a:t> </a:t>
                      </a:r>
                      <a:r>
                        <a:rPr lang="en-US" sz="1200" b="1" baseline="0" dirty="0" err="1" smtClean="0">
                          <a:latin typeface="Times New Roman" pitchFamily="18" charset="0"/>
                          <a:cs typeface="Times New Roman" pitchFamily="18" charset="0"/>
                        </a:rPr>
                        <a:t>crore</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2.5 </a:t>
                      </a:r>
                      <a:r>
                        <a:rPr lang="en-US" sz="1200" b="1" dirty="0" err="1" smtClean="0">
                          <a:latin typeface="Times New Roman" pitchFamily="18" charset="0"/>
                          <a:cs typeface="Times New Roman" pitchFamily="18" charset="0"/>
                        </a:rPr>
                        <a:t>crore</a:t>
                      </a:r>
                      <a:endParaRPr lang="en-IN" sz="1200" b="1" dirty="0">
                        <a:latin typeface="Times New Roman" pitchFamily="18" charset="0"/>
                        <a:cs typeface="Times New Roman" pitchFamily="18" charset="0"/>
                      </a:endParaRPr>
                    </a:p>
                  </a:txBody>
                  <a:tcPr/>
                </a:tc>
                <a:tc>
                  <a:txBody>
                    <a:bodyPr/>
                    <a:lstStyle/>
                    <a:p>
                      <a:pPr algn="ctr"/>
                      <a:r>
                        <a:rPr lang="en-US" sz="1200" b="1" dirty="0" smtClean="0">
                          <a:latin typeface="Times New Roman" pitchFamily="18" charset="0"/>
                          <a:cs typeface="Times New Roman" pitchFamily="18" charset="0"/>
                        </a:rPr>
                        <a:t>4.95 </a:t>
                      </a:r>
                      <a:r>
                        <a:rPr lang="en-US" sz="1200" b="1" dirty="0" err="1" smtClean="0">
                          <a:latin typeface="Times New Roman" pitchFamily="18" charset="0"/>
                          <a:cs typeface="Times New Roman" pitchFamily="18" charset="0"/>
                        </a:rPr>
                        <a:t>crore</a:t>
                      </a:r>
                      <a:endParaRPr lang="en-IN" sz="1200" b="1"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27708455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84056064"/>
              </p:ext>
            </p:extLst>
          </p:nvPr>
        </p:nvGraphicFramePr>
        <p:xfrm>
          <a:off x="1043608" y="1340768"/>
          <a:ext cx="7408862" cy="4891569"/>
        </p:xfrm>
        <a:graphic>
          <a:graphicData uri="http://schemas.openxmlformats.org/drawingml/2006/table">
            <a:tbl>
              <a:tblPr firstRow="1" bandRow="1">
                <a:tableStyleId>{5C22544A-7EE6-4342-B048-85BDC9FD1C3A}</a:tableStyleId>
              </a:tblPr>
              <a:tblGrid>
                <a:gridCol w="2836366"/>
                <a:gridCol w="4572496"/>
              </a:tblGrid>
              <a:tr h="370369">
                <a:tc>
                  <a:txBody>
                    <a:bodyPr/>
                    <a:lstStyle/>
                    <a:p>
                      <a:r>
                        <a:rPr lang="en-US" sz="1400" dirty="0" smtClean="0">
                          <a:latin typeface="Times New Roman" pitchFamily="18" charset="0"/>
                          <a:cs typeface="Times New Roman" pitchFamily="18" charset="0"/>
                        </a:rPr>
                        <a:t>Coverage </a:t>
                      </a:r>
                      <a:endParaRPr lang="en-IN" sz="1400" dirty="0">
                        <a:latin typeface="Times New Roman" pitchFamily="18" charset="0"/>
                        <a:cs typeface="Times New Roman" pitchFamily="18" charset="0"/>
                      </a:endParaRPr>
                    </a:p>
                  </a:txBody>
                  <a:tcPr marL="87935" marR="87935"/>
                </a:tc>
                <a:tc>
                  <a:txBody>
                    <a:bodyPr/>
                    <a:lstStyle/>
                    <a:p>
                      <a:r>
                        <a:rPr lang="en-US" sz="1400" dirty="0" smtClean="0">
                          <a:latin typeface="Times New Roman" pitchFamily="18" charset="0"/>
                          <a:cs typeface="Times New Roman" pitchFamily="18" charset="0"/>
                        </a:rPr>
                        <a:t>Details </a:t>
                      </a:r>
                      <a:endParaRPr lang="en-IN" sz="1400" dirty="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Accidental Death </a:t>
                      </a:r>
                    </a:p>
                  </a:txBody>
                  <a:tcPr marL="87935" marR="87935"/>
                </a:tc>
                <a:tc>
                  <a:txBody>
                    <a:bodyPr/>
                    <a:lstStyle/>
                    <a:p>
                      <a:r>
                        <a:rPr lang="en-US" sz="1400" dirty="0" smtClean="0">
                          <a:latin typeface="Times New Roman" pitchFamily="18" charset="0"/>
                          <a:cs typeface="Times New Roman" pitchFamily="18" charset="0"/>
                        </a:rPr>
                        <a:t>Covered</a:t>
                      </a:r>
                      <a:endParaRPr lang="en-IN" sz="1400" dirty="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Permanent Total Disability </a:t>
                      </a:r>
                      <a:endParaRPr lang="en-IN" sz="1400" dirty="0">
                        <a:latin typeface="Times New Roman" pitchFamily="18" charset="0"/>
                        <a:cs typeface="Times New Roman" pitchFamily="18" charset="0"/>
                      </a:endParaRPr>
                    </a:p>
                  </a:txBody>
                  <a:tcPr marL="87935" marR="8793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Times New Roman" pitchFamily="18" charset="0"/>
                          <a:cs typeface="Times New Roman" pitchFamily="18" charset="0"/>
                        </a:rPr>
                        <a:t>Covered</a:t>
                      </a:r>
                      <a:endParaRPr lang="en-IN" sz="1400" dirty="0" smtClean="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Permanent</a:t>
                      </a:r>
                      <a:r>
                        <a:rPr lang="en-US" sz="1400" baseline="0" dirty="0" smtClean="0">
                          <a:latin typeface="Times New Roman" pitchFamily="18" charset="0"/>
                          <a:cs typeface="Times New Roman" pitchFamily="18" charset="0"/>
                        </a:rPr>
                        <a:t> Partial Disability </a:t>
                      </a:r>
                      <a:endParaRPr lang="en-IN" sz="1400" dirty="0">
                        <a:latin typeface="Times New Roman" pitchFamily="18" charset="0"/>
                        <a:cs typeface="Times New Roman" pitchFamily="18" charset="0"/>
                      </a:endParaRPr>
                    </a:p>
                  </a:txBody>
                  <a:tcPr marL="87935" marR="8793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Times New Roman" pitchFamily="18" charset="0"/>
                          <a:cs typeface="Times New Roman" pitchFamily="18" charset="0"/>
                        </a:rPr>
                        <a:t>Covered</a:t>
                      </a:r>
                      <a:endParaRPr lang="en-IN" sz="1400" dirty="0" smtClean="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Temporary Total Disability(Loss</a:t>
                      </a:r>
                      <a:r>
                        <a:rPr lang="en-US" sz="1400" baseline="0" dirty="0" smtClean="0">
                          <a:latin typeface="Times New Roman" pitchFamily="18" charset="0"/>
                          <a:cs typeface="Times New Roman" pitchFamily="18" charset="0"/>
                        </a:rPr>
                        <a:t> of Wages/weekly benefit)</a:t>
                      </a:r>
                      <a:endParaRPr lang="en-IN" sz="1400" dirty="0">
                        <a:latin typeface="Times New Roman" pitchFamily="18" charset="0"/>
                        <a:cs typeface="Times New Roman" pitchFamily="18" charset="0"/>
                      </a:endParaRPr>
                    </a:p>
                  </a:txBody>
                  <a:tcPr marL="87935" marR="87935"/>
                </a:tc>
                <a:tc>
                  <a:txBody>
                    <a:bodyPr/>
                    <a:lstStyle/>
                    <a:p>
                      <a:r>
                        <a:rPr lang="en-US" sz="1400" dirty="0" smtClean="0">
                          <a:latin typeface="Times New Roman" pitchFamily="18" charset="0"/>
                          <a:cs typeface="Times New Roman" pitchFamily="18" charset="0"/>
                        </a:rPr>
                        <a:t>1% of</a:t>
                      </a:r>
                      <a:r>
                        <a:rPr lang="en-US" sz="1400" baseline="0" dirty="0" smtClean="0">
                          <a:latin typeface="Times New Roman" pitchFamily="18" charset="0"/>
                          <a:cs typeface="Times New Roman" pitchFamily="18" charset="0"/>
                        </a:rPr>
                        <a:t> AD Sum Insured, Max up to 104 weeks subject to the next max of 15000 per week whichever is lower </a:t>
                      </a:r>
                      <a:endParaRPr lang="en-IN" sz="1400" dirty="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Children Education</a:t>
                      </a:r>
                      <a:endParaRPr lang="en-IN" sz="1400" dirty="0">
                        <a:latin typeface="Times New Roman" pitchFamily="18" charset="0"/>
                        <a:cs typeface="Times New Roman" pitchFamily="18" charset="0"/>
                      </a:endParaRPr>
                    </a:p>
                  </a:txBody>
                  <a:tcPr marL="87935" marR="87935"/>
                </a:tc>
                <a:tc>
                  <a:txBody>
                    <a:bodyPr/>
                    <a:lstStyle/>
                    <a:p>
                      <a:r>
                        <a:rPr lang="en-US" sz="1400" dirty="0" smtClean="0">
                          <a:latin typeface="Times New Roman" pitchFamily="18" charset="0"/>
                          <a:cs typeface="Times New Roman" pitchFamily="18" charset="0"/>
                        </a:rPr>
                        <a:t>In case of death,</a:t>
                      </a:r>
                      <a:r>
                        <a:rPr lang="en-US" sz="1400" baseline="0" dirty="0" smtClean="0">
                          <a:latin typeface="Times New Roman" pitchFamily="18" charset="0"/>
                          <a:cs typeface="Times New Roman" pitchFamily="18" charset="0"/>
                        </a:rPr>
                        <a:t> up to INR 100000 per children up to 2 children till 12</a:t>
                      </a:r>
                      <a:r>
                        <a:rPr lang="en-US" sz="1400" baseline="30000" dirty="0" smtClean="0">
                          <a:latin typeface="Times New Roman" pitchFamily="18" charset="0"/>
                          <a:cs typeface="Times New Roman" pitchFamily="18" charset="0"/>
                        </a:rPr>
                        <a:t>th</a:t>
                      </a:r>
                      <a:r>
                        <a:rPr lang="en-US" sz="1400" baseline="0" dirty="0" smtClean="0">
                          <a:latin typeface="Times New Roman" pitchFamily="18" charset="0"/>
                          <a:cs typeface="Times New Roman" pitchFamily="18" charset="0"/>
                        </a:rPr>
                        <a:t> class</a:t>
                      </a:r>
                      <a:endParaRPr lang="en-IN" sz="1400" dirty="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House</a:t>
                      </a:r>
                      <a:r>
                        <a:rPr lang="en-US" sz="1400" baseline="0" dirty="0" smtClean="0">
                          <a:latin typeface="Times New Roman" pitchFamily="18" charset="0"/>
                          <a:cs typeface="Times New Roman" pitchFamily="18" charset="0"/>
                        </a:rPr>
                        <a:t> and vehicle modification</a:t>
                      </a:r>
                      <a:endParaRPr lang="en-IN" sz="1400" dirty="0">
                        <a:latin typeface="Times New Roman" pitchFamily="18" charset="0"/>
                        <a:cs typeface="Times New Roman" pitchFamily="18" charset="0"/>
                      </a:endParaRPr>
                    </a:p>
                  </a:txBody>
                  <a:tcPr marL="87935" marR="87935"/>
                </a:tc>
                <a:tc>
                  <a:txBody>
                    <a:bodyPr/>
                    <a:lstStyle/>
                    <a:p>
                      <a:r>
                        <a:rPr lang="en-US" sz="1400" dirty="0" smtClean="0">
                          <a:latin typeface="Times New Roman" pitchFamily="18" charset="0"/>
                          <a:cs typeface="Times New Roman" pitchFamily="18" charset="0"/>
                        </a:rPr>
                        <a:t>Up to INR 50,000</a:t>
                      </a:r>
                      <a:endParaRPr lang="en-IN" sz="1400" dirty="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Medical Extension</a:t>
                      </a:r>
                      <a:endParaRPr lang="en-IN" sz="1400" dirty="0">
                        <a:latin typeface="Times New Roman" pitchFamily="18" charset="0"/>
                        <a:cs typeface="Times New Roman" pitchFamily="18" charset="0"/>
                      </a:endParaRPr>
                    </a:p>
                  </a:txBody>
                  <a:tcPr marL="87935" marR="87935"/>
                </a:tc>
                <a:tc>
                  <a:txBody>
                    <a:bodyPr/>
                    <a:lstStyle/>
                    <a:p>
                      <a:r>
                        <a:rPr lang="en-US" sz="1400" dirty="0" smtClean="0">
                          <a:latin typeface="Times New Roman" pitchFamily="18" charset="0"/>
                          <a:cs typeface="Times New Roman" pitchFamily="18" charset="0"/>
                        </a:rPr>
                        <a:t>Up to 10% of Accidental Death Sum Insured or 40% of admissible disablement claim</a:t>
                      </a:r>
                      <a:r>
                        <a:rPr lang="en-US" sz="1400" baseline="0" dirty="0" smtClean="0">
                          <a:latin typeface="Times New Roman" pitchFamily="18" charset="0"/>
                          <a:cs typeface="Times New Roman" pitchFamily="18" charset="0"/>
                        </a:rPr>
                        <a:t> on IPD and OPD</a:t>
                      </a:r>
                      <a:endParaRPr lang="en-IN" sz="1400" dirty="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Territory Limit</a:t>
                      </a:r>
                      <a:endParaRPr lang="en-IN" sz="1400" dirty="0">
                        <a:latin typeface="Times New Roman" pitchFamily="18" charset="0"/>
                        <a:cs typeface="Times New Roman" pitchFamily="18" charset="0"/>
                      </a:endParaRPr>
                    </a:p>
                  </a:txBody>
                  <a:tcPr marL="87935" marR="87935"/>
                </a:tc>
                <a:tc>
                  <a:txBody>
                    <a:bodyPr/>
                    <a:lstStyle/>
                    <a:p>
                      <a:r>
                        <a:rPr lang="en-US" sz="1400" dirty="0" smtClean="0">
                          <a:latin typeface="Times New Roman" pitchFamily="18" charset="0"/>
                          <a:cs typeface="Times New Roman" pitchFamily="18" charset="0"/>
                        </a:rPr>
                        <a:t>World Wide </a:t>
                      </a:r>
                      <a:endParaRPr lang="en-IN" sz="1400" dirty="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Terrorism </a:t>
                      </a:r>
                    </a:p>
                  </a:txBody>
                  <a:tcPr marL="87935" marR="8793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Times New Roman" pitchFamily="18" charset="0"/>
                          <a:cs typeface="Times New Roman" pitchFamily="18" charset="0"/>
                        </a:rPr>
                        <a:t>Covered</a:t>
                      </a:r>
                      <a:endParaRPr lang="en-IN" sz="1400" dirty="0" smtClean="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Ambulance charge </a:t>
                      </a:r>
                      <a:endParaRPr lang="en-IN" sz="1400" dirty="0">
                        <a:latin typeface="Times New Roman" pitchFamily="18" charset="0"/>
                        <a:cs typeface="Times New Roman" pitchFamily="18" charset="0"/>
                      </a:endParaRPr>
                    </a:p>
                  </a:txBody>
                  <a:tcPr marL="87935" marR="87935"/>
                </a:tc>
                <a:tc>
                  <a:txBody>
                    <a:bodyPr/>
                    <a:lstStyle/>
                    <a:p>
                      <a:r>
                        <a:rPr lang="en-US" sz="1400" dirty="0" smtClean="0">
                          <a:latin typeface="Times New Roman" pitchFamily="18" charset="0"/>
                          <a:cs typeface="Times New Roman" pitchFamily="18" charset="0"/>
                        </a:rPr>
                        <a:t>INR 1000</a:t>
                      </a:r>
                      <a:endParaRPr lang="en-IN" sz="1400" dirty="0">
                        <a:latin typeface="Times New Roman" pitchFamily="18" charset="0"/>
                        <a:cs typeface="Times New Roman" pitchFamily="18" charset="0"/>
                      </a:endParaRPr>
                    </a:p>
                  </a:txBody>
                  <a:tcPr marL="87935" marR="87935"/>
                </a:tc>
              </a:tr>
              <a:tr h="370840">
                <a:tc>
                  <a:txBody>
                    <a:bodyPr/>
                    <a:lstStyle/>
                    <a:p>
                      <a:r>
                        <a:rPr lang="en-US" sz="1400" dirty="0" smtClean="0">
                          <a:latin typeface="Times New Roman" pitchFamily="18" charset="0"/>
                          <a:cs typeface="Times New Roman" pitchFamily="18" charset="0"/>
                        </a:rPr>
                        <a:t>Last rites costs accident</a:t>
                      </a:r>
                      <a:r>
                        <a:rPr lang="en-US" sz="1400" baseline="0" dirty="0" smtClean="0">
                          <a:latin typeface="Times New Roman" pitchFamily="18" charset="0"/>
                          <a:cs typeface="Times New Roman" pitchFamily="18" charset="0"/>
                        </a:rPr>
                        <a:t> only</a:t>
                      </a:r>
                      <a:endParaRPr lang="en-IN" sz="1400" dirty="0">
                        <a:latin typeface="Times New Roman" pitchFamily="18" charset="0"/>
                        <a:cs typeface="Times New Roman" pitchFamily="18" charset="0"/>
                      </a:endParaRPr>
                    </a:p>
                  </a:txBody>
                  <a:tcPr marL="87935" marR="87935"/>
                </a:tc>
                <a:tc>
                  <a:txBody>
                    <a:bodyPr/>
                    <a:lstStyle/>
                    <a:p>
                      <a:r>
                        <a:rPr lang="en-US" sz="1400" dirty="0" smtClean="0">
                          <a:latin typeface="Times New Roman" pitchFamily="18" charset="0"/>
                          <a:cs typeface="Times New Roman" pitchFamily="18" charset="0"/>
                        </a:rPr>
                        <a:t>Up to INR 10,000</a:t>
                      </a:r>
                      <a:endParaRPr lang="en-IN" sz="1400" dirty="0">
                        <a:latin typeface="Times New Roman" pitchFamily="18" charset="0"/>
                        <a:cs typeface="Times New Roman" pitchFamily="18" charset="0"/>
                      </a:endParaRPr>
                    </a:p>
                  </a:txBody>
                  <a:tcPr marL="87935" marR="87935"/>
                </a:tc>
              </a:tr>
            </a:tbl>
          </a:graphicData>
        </a:graphic>
      </p:graphicFrame>
      <p:sp>
        <p:nvSpPr>
          <p:cNvPr id="3" name="Title 2"/>
          <p:cNvSpPr>
            <a:spLocks noGrp="1"/>
          </p:cNvSpPr>
          <p:nvPr>
            <p:ph type="title"/>
          </p:nvPr>
        </p:nvSpPr>
        <p:spPr/>
        <p:txBody>
          <a:bodyPr>
            <a:normAutofit/>
          </a:bodyPr>
          <a:lstStyle/>
          <a:p>
            <a:r>
              <a:rPr lang="en-US" sz="2800" dirty="0" smtClean="0">
                <a:latin typeface="Times New Roman" pitchFamily="18" charset="0"/>
                <a:cs typeface="Times New Roman" pitchFamily="18" charset="0"/>
              </a:rPr>
              <a:t>Benefits Details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6962016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2800" dirty="0" smtClean="0">
                <a:latin typeface="Times New Roman" pitchFamily="18" charset="0"/>
                <a:cs typeface="Times New Roman" pitchFamily="18" charset="0"/>
              </a:rPr>
              <a:t>Claims Procedure</a:t>
            </a:r>
            <a:endParaRPr lang="en-IN" sz="2800" dirty="0">
              <a:latin typeface="Times New Roman" pitchFamily="18" charset="0"/>
              <a:cs typeface="Times New Roman" pitchFamily="18" charset="0"/>
            </a:endParaRPr>
          </a:p>
        </p:txBody>
      </p:sp>
      <p:sp>
        <p:nvSpPr>
          <p:cNvPr id="4" name="Rectangle 3"/>
          <p:cNvSpPr/>
          <p:nvPr/>
        </p:nvSpPr>
        <p:spPr>
          <a:xfrm>
            <a:off x="179512" y="2420888"/>
            <a:ext cx="2592288" cy="15879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dirty="0" smtClean="0">
                <a:latin typeface="Times New Roman" pitchFamily="18" charset="0"/>
                <a:cs typeface="Times New Roman" pitchFamily="18" charset="0"/>
              </a:rPr>
              <a:t>Employee/Beneficiary notifies HR, who in turn would intimate insurer through prudent within 48 hours and submit required claims documents within 30 days of the event or after getting fitness certificate from treating doctor </a:t>
            </a:r>
            <a:endParaRPr lang="en-IN" sz="1400" dirty="0">
              <a:latin typeface="Times New Roman" pitchFamily="18" charset="0"/>
              <a:cs typeface="Times New Roman" pitchFamily="18" charset="0"/>
            </a:endParaRPr>
          </a:p>
        </p:txBody>
      </p:sp>
      <p:sp>
        <p:nvSpPr>
          <p:cNvPr id="5" name="Rectangle 4"/>
          <p:cNvSpPr/>
          <p:nvPr/>
        </p:nvSpPr>
        <p:spPr>
          <a:xfrm>
            <a:off x="3275856" y="2564904"/>
            <a:ext cx="2448272" cy="11110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smtClean="0">
                <a:solidFill>
                  <a:schemeClr val="tx1"/>
                </a:solidFill>
                <a:latin typeface="Times New Roman" pitchFamily="18" charset="0"/>
                <a:cs typeface="Times New Roman" pitchFamily="18" charset="0"/>
              </a:rPr>
              <a:t>On obtaining all relevant documents, insurer begins processing the claims.</a:t>
            </a:r>
            <a:endParaRPr lang="en-IN" sz="1400" dirty="0">
              <a:solidFill>
                <a:schemeClr val="tx1"/>
              </a:solidFill>
              <a:latin typeface="Times New Roman" pitchFamily="18" charset="0"/>
              <a:cs typeface="Times New Roman" pitchFamily="18" charset="0"/>
            </a:endParaRPr>
          </a:p>
        </p:txBody>
      </p:sp>
      <p:sp>
        <p:nvSpPr>
          <p:cNvPr id="6" name="Rectangle 5"/>
          <p:cNvSpPr/>
          <p:nvPr/>
        </p:nvSpPr>
        <p:spPr>
          <a:xfrm>
            <a:off x="1331640" y="5314136"/>
            <a:ext cx="2448272"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smtClean="0">
                <a:solidFill>
                  <a:schemeClr val="tx1"/>
                </a:solidFill>
                <a:latin typeface="Times New Roman" pitchFamily="18" charset="0"/>
                <a:cs typeface="Times New Roman" pitchFamily="18" charset="0"/>
              </a:rPr>
              <a:t>On approval, the NEFT is sent to HR within 7 working days from were it is given to Employee/ Beneficiary </a:t>
            </a:r>
            <a:endParaRPr lang="en-IN" sz="1400" dirty="0">
              <a:solidFill>
                <a:schemeClr val="tx1"/>
              </a:solidFill>
              <a:latin typeface="Times New Roman" pitchFamily="18" charset="0"/>
              <a:cs typeface="Times New Roman" pitchFamily="18" charset="0"/>
            </a:endParaRPr>
          </a:p>
        </p:txBody>
      </p:sp>
      <p:sp>
        <p:nvSpPr>
          <p:cNvPr id="7" name="Rectangle 6"/>
          <p:cNvSpPr/>
          <p:nvPr/>
        </p:nvSpPr>
        <p:spPr>
          <a:xfrm>
            <a:off x="5508104" y="5304184"/>
            <a:ext cx="2448272"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smtClean="0">
                <a:solidFill>
                  <a:schemeClr val="tx1"/>
                </a:solidFill>
                <a:latin typeface="Times New Roman" pitchFamily="18" charset="0"/>
                <a:cs typeface="Times New Roman" pitchFamily="18" charset="0"/>
              </a:rPr>
              <a:t>On rejection of the claim, insurer would provide a valid reason for the rejection to HR/Employee/Beneficiary</a:t>
            </a:r>
            <a:endParaRPr lang="en-IN" sz="1400" dirty="0">
              <a:solidFill>
                <a:schemeClr val="tx1"/>
              </a:solidFill>
              <a:latin typeface="Times New Roman" pitchFamily="18" charset="0"/>
              <a:cs typeface="Times New Roman" pitchFamily="18" charset="0"/>
            </a:endParaRPr>
          </a:p>
        </p:txBody>
      </p:sp>
      <p:sp>
        <p:nvSpPr>
          <p:cNvPr id="8" name="Rectangle 7"/>
          <p:cNvSpPr/>
          <p:nvPr/>
        </p:nvSpPr>
        <p:spPr>
          <a:xfrm>
            <a:off x="6187000" y="2581692"/>
            <a:ext cx="2448272" cy="10942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smtClean="0">
                <a:solidFill>
                  <a:schemeClr val="tx1"/>
                </a:solidFill>
                <a:latin typeface="Times New Roman" pitchFamily="18" charset="0"/>
                <a:cs typeface="Times New Roman" pitchFamily="18" charset="0"/>
              </a:rPr>
              <a:t>Claim investigation and review within 7 days of submission of all the documents required </a:t>
            </a:r>
            <a:endParaRPr lang="en-IN" sz="1400" dirty="0">
              <a:solidFill>
                <a:schemeClr val="tx1"/>
              </a:solidFill>
              <a:latin typeface="Times New Roman" pitchFamily="18" charset="0"/>
              <a:cs typeface="Times New Roman" pitchFamily="18" charset="0"/>
            </a:endParaRPr>
          </a:p>
        </p:txBody>
      </p:sp>
      <p:sp>
        <p:nvSpPr>
          <p:cNvPr id="9" name="Diamond 8"/>
          <p:cNvSpPr/>
          <p:nvPr/>
        </p:nvSpPr>
        <p:spPr>
          <a:xfrm>
            <a:off x="3682752" y="4008804"/>
            <a:ext cx="1825352" cy="129688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latin typeface="Times New Roman" pitchFamily="18" charset="0"/>
                <a:cs typeface="Times New Roman" pitchFamily="18" charset="0"/>
              </a:rPr>
              <a:t>Is claim approved within 15 working days ? </a:t>
            </a:r>
            <a:endParaRPr lang="en-IN" sz="1200" dirty="0">
              <a:solidFill>
                <a:schemeClr val="tx1"/>
              </a:solidFill>
              <a:latin typeface="Times New Roman" pitchFamily="18" charset="0"/>
              <a:cs typeface="Times New Roman" pitchFamily="18" charset="0"/>
            </a:endParaRPr>
          </a:p>
        </p:txBody>
      </p:sp>
      <p:sp>
        <p:nvSpPr>
          <p:cNvPr id="17" name="Right Arrow 16"/>
          <p:cNvSpPr/>
          <p:nvPr/>
        </p:nvSpPr>
        <p:spPr>
          <a:xfrm>
            <a:off x="2771800" y="3068960"/>
            <a:ext cx="432048" cy="242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sz="1600"/>
          </a:p>
        </p:txBody>
      </p:sp>
      <p:sp>
        <p:nvSpPr>
          <p:cNvPr id="18" name="Right Arrow 17"/>
          <p:cNvSpPr/>
          <p:nvPr/>
        </p:nvSpPr>
        <p:spPr>
          <a:xfrm>
            <a:off x="5724128" y="2990868"/>
            <a:ext cx="432048" cy="242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sz="1600"/>
          </a:p>
        </p:txBody>
      </p:sp>
      <p:cxnSp>
        <p:nvCxnSpPr>
          <p:cNvPr id="21" name="Elbow Connector 20"/>
          <p:cNvCxnSpPr>
            <a:stCxn id="8" idx="2"/>
            <a:endCxn id="9" idx="0"/>
          </p:cNvCxnSpPr>
          <p:nvPr/>
        </p:nvCxnSpPr>
        <p:spPr>
          <a:xfrm rot="5400000">
            <a:off x="5836848" y="2434516"/>
            <a:ext cx="332868" cy="2815708"/>
          </a:xfrm>
          <a:prstGeom prst="bentConnector3">
            <a:avLst/>
          </a:prstGeom>
          <a:ln>
            <a:tailEnd type="arrow"/>
          </a:ln>
        </p:spPr>
        <p:style>
          <a:lnRef idx="3">
            <a:schemeClr val="dk1"/>
          </a:lnRef>
          <a:fillRef idx="0">
            <a:schemeClr val="dk1"/>
          </a:fillRef>
          <a:effectRef idx="2">
            <a:schemeClr val="dk1"/>
          </a:effectRef>
          <a:fontRef idx="minor">
            <a:schemeClr val="tx1"/>
          </a:fontRef>
        </p:style>
      </p:cxnSp>
      <p:cxnSp>
        <p:nvCxnSpPr>
          <p:cNvPr id="23" name="Elbow Connector 22"/>
          <p:cNvCxnSpPr>
            <a:stCxn id="9" idx="1"/>
          </p:cNvCxnSpPr>
          <p:nvPr/>
        </p:nvCxnSpPr>
        <p:spPr>
          <a:xfrm rot="10800000" flipV="1">
            <a:off x="2351466" y="4657248"/>
            <a:ext cx="1331286" cy="646936"/>
          </a:xfrm>
          <a:prstGeom prst="bentConnector3">
            <a:avLst>
              <a:gd name="adj1" fmla="val 100140"/>
            </a:avLst>
          </a:prstGeom>
          <a:ln>
            <a:tailEnd type="arrow"/>
          </a:ln>
        </p:spPr>
        <p:style>
          <a:lnRef idx="3">
            <a:schemeClr val="dk1"/>
          </a:lnRef>
          <a:fillRef idx="0">
            <a:schemeClr val="dk1"/>
          </a:fillRef>
          <a:effectRef idx="2">
            <a:schemeClr val="dk1"/>
          </a:effectRef>
          <a:fontRef idx="minor">
            <a:schemeClr val="tx1"/>
          </a:fontRef>
        </p:style>
      </p:cxnSp>
      <p:cxnSp>
        <p:nvCxnSpPr>
          <p:cNvPr id="26" name="Elbow Connector 25"/>
          <p:cNvCxnSpPr>
            <a:stCxn id="9" idx="3"/>
          </p:cNvCxnSpPr>
          <p:nvPr/>
        </p:nvCxnSpPr>
        <p:spPr>
          <a:xfrm>
            <a:off x="5508104" y="4657248"/>
            <a:ext cx="1224136" cy="646840"/>
          </a:xfrm>
          <a:prstGeom prst="bentConnector3">
            <a:avLst>
              <a:gd name="adj1" fmla="val 100047"/>
            </a:avLst>
          </a:prstGeom>
          <a:ln>
            <a:tailEnd type="arrow"/>
          </a:ln>
        </p:spPr>
        <p:style>
          <a:lnRef idx="3">
            <a:schemeClr val="dk1"/>
          </a:lnRef>
          <a:fillRef idx="0">
            <a:schemeClr val="dk1"/>
          </a:fillRef>
          <a:effectRef idx="2">
            <a:schemeClr val="dk1"/>
          </a:effectRef>
          <a:fontRef idx="minor">
            <a:schemeClr val="tx1"/>
          </a:fontRef>
        </p:style>
      </p:cxnSp>
      <p:sp>
        <p:nvSpPr>
          <p:cNvPr id="31" name="Rectangle 30"/>
          <p:cNvSpPr/>
          <p:nvPr/>
        </p:nvSpPr>
        <p:spPr>
          <a:xfrm>
            <a:off x="2883465" y="4355812"/>
            <a:ext cx="519438" cy="369332"/>
          </a:xfrm>
          <a:prstGeom prst="rect">
            <a:avLst/>
          </a:prstGeom>
        </p:spPr>
        <p:txBody>
          <a:bodyPr wrap="none">
            <a:spAutoFit/>
          </a:bodyPr>
          <a:lstStyle/>
          <a:p>
            <a:pPr algn="just"/>
            <a:r>
              <a:rPr lang="en-US" dirty="0" smtClean="0">
                <a:latin typeface="Times New Roman" pitchFamily="18" charset="0"/>
                <a:cs typeface="Times New Roman" pitchFamily="18" charset="0"/>
              </a:rPr>
              <a:t>Yes</a:t>
            </a:r>
            <a:endParaRPr lang="en-IN" dirty="0">
              <a:latin typeface="Times New Roman" pitchFamily="18" charset="0"/>
              <a:cs typeface="Times New Roman" pitchFamily="18" charset="0"/>
            </a:endParaRPr>
          </a:p>
        </p:txBody>
      </p:sp>
      <p:sp>
        <p:nvSpPr>
          <p:cNvPr id="32" name="Rectangle 31"/>
          <p:cNvSpPr/>
          <p:nvPr/>
        </p:nvSpPr>
        <p:spPr>
          <a:xfrm>
            <a:off x="5821655" y="4355812"/>
            <a:ext cx="468398" cy="369332"/>
          </a:xfrm>
          <a:prstGeom prst="rect">
            <a:avLst/>
          </a:prstGeom>
        </p:spPr>
        <p:txBody>
          <a:bodyPr wrap="none">
            <a:spAutoFit/>
          </a:bodyPr>
          <a:lstStyle/>
          <a:p>
            <a:pPr algn="just"/>
            <a:r>
              <a:rPr lang="en-US" dirty="0" smtClean="0">
                <a:latin typeface="Times New Roman" pitchFamily="18" charset="0"/>
                <a:cs typeface="Times New Roman" pitchFamily="18" charset="0"/>
              </a:rPr>
              <a:t>No</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1326687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1124744"/>
            <a:ext cx="8208911" cy="5001419"/>
          </a:xfrm>
        </p:spPr>
        <p:txBody>
          <a:bodyPr>
            <a:normAutofit/>
          </a:bodyPr>
          <a:lstStyle/>
          <a:p>
            <a:r>
              <a:rPr lang="en-US" sz="1600" dirty="0" smtClean="0">
                <a:latin typeface="Times New Roman" pitchFamily="18" charset="0"/>
                <a:cs typeface="Times New Roman" pitchFamily="18" charset="0"/>
              </a:rPr>
              <a:t>All the employees are being provided with a group term insurance policy through Max Life Insurance.</a:t>
            </a:r>
          </a:p>
          <a:p>
            <a:pPr marL="0" indent="0">
              <a:buNone/>
            </a:pPr>
            <a:r>
              <a:rPr lang="en-US" sz="1600" dirty="0" smtClean="0">
                <a:latin typeface="Times New Roman" pitchFamily="18" charset="0"/>
                <a:cs typeface="Times New Roman" pitchFamily="18" charset="0"/>
              </a:rPr>
              <a:t>Policy Parameter:</a:t>
            </a:r>
          </a:p>
          <a:p>
            <a:pPr marL="0" indent="0">
              <a:buNone/>
            </a:pPr>
            <a:endParaRPr lang="en-US" sz="1600" dirty="0" smtClean="0">
              <a:latin typeface="Times New Roman" pitchFamily="18" charset="0"/>
              <a:cs typeface="Times New Roman" pitchFamily="18" charset="0"/>
            </a:endParaRPr>
          </a:p>
          <a:p>
            <a:pPr marL="0" indent="0">
              <a:buNone/>
            </a:pPr>
            <a:endParaRPr lang="en-US" sz="1600" dirty="0">
              <a:latin typeface="Times New Roman" pitchFamily="18" charset="0"/>
              <a:cs typeface="Times New Roman" pitchFamily="18" charset="0"/>
            </a:endParaRPr>
          </a:p>
          <a:p>
            <a:pPr marL="0" indent="0">
              <a:buNone/>
            </a:pPr>
            <a:endParaRPr lang="en-US" sz="1600" dirty="0" smtClean="0">
              <a:latin typeface="Times New Roman" pitchFamily="18" charset="0"/>
              <a:cs typeface="Times New Roman" pitchFamily="18" charset="0"/>
            </a:endParaRPr>
          </a:p>
          <a:p>
            <a:pPr marL="0" indent="0">
              <a:buNone/>
            </a:pPr>
            <a:endParaRPr lang="en-US" sz="1600" dirty="0">
              <a:latin typeface="Times New Roman" pitchFamily="18" charset="0"/>
              <a:cs typeface="Times New Roman" pitchFamily="18" charset="0"/>
            </a:endParaRPr>
          </a:p>
          <a:p>
            <a:pPr marL="0" indent="0">
              <a:buNone/>
            </a:pPr>
            <a:r>
              <a:rPr lang="en-US" sz="1600" dirty="0" smtClean="0">
                <a:solidFill>
                  <a:schemeClr val="tx1"/>
                </a:solidFill>
                <a:latin typeface="Times New Roman" pitchFamily="18" charset="0"/>
                <a:cs typeface="Times New Roman" pitchFamily="18" charset="0"/>
              </a:rPr>
              <a:t>Sum Insured:</a:t>
            </a:r>
          </a:p>
          <a:p>
            <a:pPr marL="0" indent="0">
              <a:buNone/>
            </a:pPr>
            <a:endParaRPr lang="en-US" sz="1600" dirty="0" smtClean="0">
              <a:solidFill>
                <a:schemeClr val="tx1"/>
              </a:solidFill>
              <a:latin typeface="Times New Roman" pitchFamily="18" charset="0"/>
              <a:cs typeface="Times New Roman" pitchFamily="18" charset="0"/>
            </a:endParaRPr>
          </a:p>
          <a:p>
            <a:pPr marL="0" indent="0">
              <a:buNone/>
            </a:pPr>
            <a:endParaRPr lang="en-US" sz="1600" dirty="0" smtClean="0">
              <a:solidFill>
                <a:schemeClr val="tx1"/>
              </a:solidFill>
              <a:latin typeface="Times New Roman" pitchFamily="18" charset="0"/>
              <a:cs typeface="Times New Roman" pitchFamily="18" charset="0"/>
            </a:endParaRPr>
          </a:p>
        </p:txBody>
      </p:sp>
      <p:sp>
        <p:nvSpPr>
          <p:cNvPr id="3" name="Title 2"/>
          <p:cNvSpPr>
            <a:spLocks noGrp="1"/>
          </p:cNvSpPr>
          <p:nvPr>
            <p:ph type="title"/>
          </p:nvPr>
        </p:nvSpPr>
        <p:spPr>
          <a:xfrm>
            <a:off x="457200" y="338328"/>
            <a:ext cx="8291264" cy="426376"/>
          </a:xfrm>
        </p:spPr>
        <p:txBody>
          <a:bodyPr>
            <a:noAutofit/>
          </a:bodyPr>
          <a:lstStyle/>
          <a:p>
            <a:r>
              <a:rPr lang="en-US" sz="2800" dirty="0" smtClean="0">
                <a:latin typeface="Times New Roman" pitchFamily="18" charset="0"/>
                <a:cs typeface="Times New Roman" pitchFamily="18" charset="0"/>
              </a:rPr>
              <a:t>Group Term Life </a:t>
            </a:r>
            <a:endParaRPr lang="en-IN" sz="2800"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053151751"/>
              </p:ext>
            </p:extLst>
          </p:nvPr>
        </p:nvGraphicFramePr>
        <p:xfrm>
          <a:off x="1115616" y="2060848"/>
          <a:ext cx="5670322" cy="1008111"/>
        </p:xfrm>
        <a:graphic>
          <a:graphicData uri="http://schemas.openxmlformats.org/drawingml/2006/table">
            <a:tbl>
              <a:tblPr firstRow="1" bandRow="1">
                <a:tableStyleId>{5C22544A-7EE6-4342-B048-85BDC9FD1C3A}</a:tableStyleId>
              </a:tblPr>
              <a:tblGrid>
                <a:gridCol w="1446530"/>
                <a:gridCol w="4223792"/>
              </a:tblGrid>
              <a:tr h="336037">
                <a:tc>
                  <a:txBody>
                    <a:bodyPr/>
                    <a:lstStyle/>
                    <a:p>
                      <a:r>
                        <a:rPr lang="en-US" sz="1400" dirty="0" smtClean="0">
                          <a:latin typeface="Times New Roman" pitchFamily="18" charset="0"/>
                          <a:cs typeface="Times New Roman" pitchFamily="18" charset="0"/>
                        </a:rPr>
                        <a:t>Insurer </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Max Life Insurance</a:t>
                      </a:r>
                      <a:r>
                        <a:rPr lang="en-US" sz="1400" baseline="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a:txBody>
                  <a:tcPr/>
                </a:tc>
              </a:tr>
              <a:tr h="336037">
                <a:tc>
                  <a:txBody>
                    <a:bodyPr/>
                    <a:lstStyle/>
                    <a:p>
                      <a:r>
                        <a:rPr lang="en-US" sz="1400" dirty="0" smtClean="0">
                          <a:latin typeface="Times New Roman" pitchFamily="18" charset="0"/>
                          <a:cs typeface="Times New Roman" pitchFamily="18" charset="0"/>
                        </a:rPr>
                        <a:t>Policy Start date </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1/4/2023</a:t>
                      </a:r>
                      <a:endParaRPr lang="en-IN" sz="1400" dirty="0">
                        <a:latin typeface="Times New Roman" pitchFamily="18" charset="0"/>
                        <a:cs typeface="Times New Roman" pitchFamily="18" charset="0"/>
                      </a:endParaRPr>
                    </a:p>
                  </a:txBody>
                  <a:tcPr/>
                </a:tc>
              </a:tr>
              <a:tr h="336037">
                <a:tc>
                  <a:txBody>
                    <a:bodyPr/>
                    <a:lstStyle/>
                    <a:p>
                      <a:r>
                        <a:rPr lang="en-US" sz="1400" dirty="0" smtClean="0">
                          <a:latin typeface="Times New Roman" pitchFamily="18" charset="0"/>
                          <a:cs typeface="Times New Roman" pitchFamily="18" charset="0"/>
                        </a:rPr>
                        <a:t>Policy End date</a:t>
                      </a:r>
                      <a:endParaRPr lang="en-IN"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31/03/2024</a:t>
                      </a:r>
                      <a:endParaRPr lang="en-IN" sz="1400" dirty="0">
                        <a:latin typeface="Times New Roman" pitchFamily="18" charset="0"/>
                        <a:cs typeface="Times New Roman" pitchFamily="18" charset="0"/>
                      </a:endParaRPr>
                    </a:p>
                  </a:txBody>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27976977"/>
              </p:ext>
            </p:extLst>
          </p:nvPr>
        </p:nvGraphicFramePr>
        <p:xfrm>
          <a:off x="1115616" y="3501008"/>
          <a:ext cx="6144344" cy="3285384"/>
        </p:xfrm>
        <a:graphic>
          <a:graphicData uri="http://schemas.openxmlformats.org/drawingml/2006/table">
            <a:tbl>
              <a:tblPr firstRow="1" bandRow="1">
                <a:tableStyleId>{5C22544A-7EE6-4342-B048-85BDC9FD1C3A}</a:tableStyleId>
              </a:tblPr>
              <a:tblGrid>
                <a:gridCol w="2040663"/>
                <a:gridCol w="1031509"/>
                <a:gridCol w="1536086"/>
                <a:gridCol w="1536086"/>
              </a:tblGrid>
              <a:tr h="581064">
                <a:tc>
                  <a:txBody>
                    <a:bodyPr/>
                    <a:lstStyle/>
                    <a:p>
                      <a:r>
                        <a:rPr lang="en-US" sz="1100" dirty="0" smtClean="0">
                          <a:latin typeface="Times New Roman" pitchFamily="18" charset="0"/>
                          <a:cs typeface="Times New Roman" pitchFamily="18" charset="0"/>
                        </a:rPr>
                        <a:t>Grade</a:t>
                      </a:r>
                      <a:r>
                        <a:rPr lang="en-US" sz="1100" baseline="0" dirty="0" smtClean="0">
                          <a:latin typeface="Times New Roman" pitchFamily="18" charset="0"/>
                          <a:cs typeface="Times New Roman" pitchFamily="18" charset="0"/>
                        </a:rPr>
                        <a:t>/Level</a:t>
                      </a:r>
                      <a:endParaRPr lang="en-IN"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BLC Sum Assured </a:t>
                      </a:r>
                      <a:endParaRPr lang="en-IN"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CI Sum Assured</a:t>
                      </a:r>
                      <a:endParaRPr lang="en-IN"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TI Sum Assured</a:t>
                      </a:r>
                      <a:endParaRPr lang="en-IN" sz="1100" dirty="0">
                        <a:latin typeface="Times New Roman" pitchFamily="18" charset="0"/>
                        <a:cs typeface="Times New Roman" pitchFamily="18" charset="0"/>
                      </a:endParaRPr>
                    </a:p>
                  </a:txBody>
                  <a:tcPr/>
                </a:tc>
              </a:tr>
              <a:tr h="353414">
                <a:tc>
                  <a:txBody>
                    <a:bodyPr/>
                    <a:lstStyle/>
                    <a:p>
                      <a:r>
                        <a:rPr lang="en-US" sz="1100" dirty="0" smtClean="0">
                          <a:latin typeface="Times New Roman" pitchFamily="18" charset="0"/>
                          <a:cs typeface="Times New Roman" pitchFamily="18" charset="0"/>
                        </a:rPr>
                        <a:t>Engineer/</a:t>
                      </a:r>
                      <a:r>
                        <a:rPr lang="en-US" sz="1100" dirty="0" err="1" smtClean="0">
                          <a:latin typeface="Times New Roman" pitchFamily="18" charset="0"/>
                          <a:cs typeface="Times New Roman" pitchFamily="18" charset="0"/>
                        </a:rPr>
                        <a:t>Sr.Engineer</a:t>
                      </a:r>
                      <a:r>
                        <a:rPr lang="en-US" sz="1100" dirty="0" smtClean="0">
                          <a:latin typeface="Times New Roman" pitchFamily="18" charset="0"/>
                          <a:cs typeface="Times New Roman" pitchFamily="18" charset="0"/>
                        </a:rPr>
                        <a:t>/Executive</a:t>
                      </a:r>
                      <a:r>
                        <a:rPr lang="en-US" sz="1100" baseline="0" dirty="0" smtClean="0">
                          <a:latin typeface="Times New Roman" pitchFamily="18" charset="0"/>
                          <a:cs typeface="Times New Roman" pitchFamily="18" charset="0"/>
                        </a:rPr>
                        <a:t>/</a:t>
                      </a:r>
                      <a:r>
                        <a:rPr lang="en-US" sz="1100" baseline="0" dirty="0" err="1" smtClean="0">
                          <a:latin typeface="Times New Roman" pitchFamily="18" charset="0"/>
                          <a:cs typeface="Times New Roman" pitchFamily="18" charset="0"/>
                        </a:rPr>
                        <a:t>Sr.Executive</a:t>
                      </a:r>
                      <a:endParaRPr lang="en-IN"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INR 40 lakhs </a:t>
                      </a:r>
                      <a:endParaRPr lang="en-IN" sz="1100" dirty="0">
                        <a:latin typeface="Times New Roman" pitchFamily="18" charset="0"/>
                        <a:cs typeface="Times New Roman" pitchFamily="18" charset="0"/>
                      </a:endParaRPr>
                    </a:p>
                  </a:txBody>
                  <a:tcPr/>
                </a:tc>
                <a:tc rowSpan="7">
                  <a:txBody>
                    <a:bodyPr/>
                    <a:lstStyle/>
                    <a:p>
                      <a:r>
                        <a:rPr lang="en-US" sz="1100" dirty="0" smtClean="0">
                          <a:latin typeface="Times New Roman" pitchFamily="18" charset="0"/>
                          <a:cs typeface="Times New Roman" pitchFamily="18" charset="0"/>
                        </a:rPr>
                        <a:t>50% of BLC subject</a:t>
                      </a:r>
                      <a:r>
                        <a:rPr lang="en-US" sz="1100" baseline="0" dirty="0" smtClean="0">
                          <a:latin typeface="Times New Roman" pitchFamily="18" charset="0"/>
                          <a:cs typeface="Times New Roman" pitchFamily="18" charset="0"/>
                        </a:rPr>
                        <a:t> to max of 10 lac</a:t>
                      </a:r>
                      <a:endParaRPr lang="en-IN" sz="1100" dirty="0">
                        <a:latin typeface="Times New Roman" pitchFamily="18" charset="0"/>
                        <a:cs typeface="Times New Roman" pitchFamily="18" charset="0"/>
                      </a:endParaRPr>
                    </a:p>
                  </a:txBody>
                  <a:tcPr/>
                </a:tc>
                <a:tc rowSpan="7">
                  <a:txBody>
                    <a:bodyPr/>
                    <a:lstStyle/>
                    <a:p>
                      <a:r>
                        <a:rPr lang="en-US" sz="1100" dirty="0" smtClean="0">
                          <a:latin typeface="Times New Roman" pitchFamily="18" charset="0"/>
                          <a:cs typeface="Times New Roman" pitchFamily="18" charset="0"/>
                        </a:rPr>
                        <a:t>Accelerated</a:t>
                      </a:r>
                      <a:r>
                        <a:rPr lang="en-US" sz="1100" baseline="0" dirty="0" smtClean="0">
                          <a:latin typeface="Times New Roman" pitchFamily="18" charset="0"/>
                          <a:cs typeface="Times New Roman" pitchFamily="18" charset="0"/>
                        </a:rPr>
                        <a:t> terminal illness(100% of BLC subjects to Max cover of </a:t>
                      </a:r>
                      <a:r>
                        <a:rPr lang="en-US" sz="1100" baseline="0" dirty="0" err="1" smtClean="0">
                          <a:latin typeface="Times New Roman" pitchFamily="18" charset="0"/>
                          <a:cs typeface="Times New Roman" pitchFamily="18" charset="0"/>
                        </a:rPr>
                        <a:t>Rs</a:t>
                      </a:r>
                      <a:r>
                        <a:rPr lang="en-US" sz="1100" baseline="0" dirty="0" smtClean="0">
                          <a:latin typeface="Times New Roman" pitchFamily="18" charset="0"/>
                          <a:cs typeface="Times New Roman" pitchFamily="18" charset="0"/>
                        </a:rPr>
                        <a:t> 50 lac)</a:t>
                      </a:r>
                      <a:endParaRPr lang="en-IN" sz="1100" dirty="0">
                        <a:latin typeface="Times New Roman" pitchFamily="18" charset="0"/>
                        <a:cs typeface="Times New Roman" pitchFamily="18" charset="0"/>
                      </a:endParaRPr>
                    </a:p>
                  </a:txBody>
                  <a:tcPr/>
                </a:tc>
              </a:tr>
              <a:tr h="336648">
                <a:tc>
                  <a:txBody>
                    <a:bodyPr/>
                    <a:lstStyle/>
                    <a:p>
                      <a:r>
                        <a:rPr lang="en-US" sz="1100" dirty="0" smtClean="0">
                          <a:latin typeface="Times New Roman" pitchFamily="18" charset="0"/>
                          <a:cs typeface="Times New Roman" pitchFamily="18" charset="0"/>
                        </a:rPr>
                        <a:t>Assistant Manager/Manager</a:t>
                      </a:r>
                      <a:endParaRPr lang="en-IN" sz="11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Times New Roman" pitchFamily="18" charset="0"/>
                          <a:cs typeface="Times New Roman" pitchFamily="18" charset="0"/>
                        </a:rPr>
                        <a:t>INR 75 lakhs</a:t>
                      </a:r>
                      <a:endParaRPr lang="en-IN" sz="1100" dirty="0" smtClean="0">
                        <a:latin typeface="Times New Roman" pitchFamily="18" charset="0"/>
                        <a:cs typeface="Times New Roman" pitchFamily="18" charset="0"/>
                      </a:endParaRPr>
                    </a:p>
                  </a:txBody>
                  <a:tcPr/>
                </a:tc>
                <a:tc vMerge="1">
                  <a:txBody>
                    <a:bodyPr/>
                    <a:lstStyle/>
                    <a:p>
                      <a:endParaRPr lang="en-IN" dirty="0"/>
                    </a:p>
                  </a:txBody>
                  <a:tcPr/>
                </a:tc>
                <a:tc vMerge="1">
                  <a:txBody>
                    <a:bodyPr/>
                    <a:lstStyle/>
                    <a:p>
                      <a:endParaRPr lang="en-IN" dirty="0"/>
                    </a:p>
                  </a:txBody>
                  <a:tcPr/>
                </a:tc>
              </a:tr>
              <a:tr h="336648">
                <a:tc>
                  <a:txBody>
                    <a:bodyPr/>
                    <a:lstStyle/>
                    <a:p>
                      <a:r>
                        <a:rPr lang="en-US" sz="1100" dirty="0" smtClean="0">
                          <a:latin typeface="Times New Roman" pitchFamily="18" charset="0"/>
                          <a:cs typeface="Times New Roman" pitchFamily="18" charset="0"/>
                        </a:rPr>
                        <a:t>Senior Manager </a:t>
                      </a:r>
                      <a:endParaRPr lang="en-IN" sz="11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Times New Roman" pitchFamily="18" charset="0"/>
                          <a:cs typeface="Times New Roman" pitchFamily="18" charset="0"/>
                        </a:rPr>
                        <a:t>INR 1 </a:t>
                      </a:r>
                      <a:r>
                        <a:rPr lang="en-US" sz="1100" dirty="0" err="1" smtClean="0">
                          <a:latin typeface="Times New Roman" pitchFamily="18" charset="0"/>
                          <a:cs typeface="Times New Roman" pitchFamily="18" charset="0"/>
                        </a:rPr>
                        <a:t>Crore</a:t>
                      </a:r>
                      <a:endParaRPr lang="en-IN" sz="1100" dirty="0" smtClean="0">
                        <a:latin typeface="Times New Roman" pitchFamily="18" charset="0"/>
                        <a:cs typeface="Times New Roman" pitchFamily="18" charset="0"/>
                      </a:endParaRPr>
                    </a:p>
                  </a:txBody>
                  <a:tcPr/>
                </a:tc>
                <a:tc vMerge="1">
                  <a:txBody>
                    <a:bodyPr/>
                    <a:lstStyle/>
                    <a:p>
                      <a:endParaRPr lang="en-IN" dirty="0"/>
                    </a:p>
                  </a:txBody>
                  <a:tcPr/>
                </a:tc>
                <a:tc vMerge="1">
                  <a:txBody>
                    <a:bodyPr/>
                    <a:lstStyle/>
                    <a:p>
                      <a:endParaRPr lang="en-IN" dirty="0"/>
                    </a:p>
                  </a:txBody>
                  <a:tcPr/>
                </a:tc>
              </a:tr>
              <a:tr h="336648">
                <a:tc>
                  <a:txBody>
                    <a:bodyPr/>
                    <a:lstStyle/>
                    <a:p>
                      <a:r>
                        <a:rPr lang="en-US" sz="1100" dirty="0" smtClean="0">
                          <a:latin typeface="Times New Roman" pitchFamily="18" charset="0"/>
                          <a:cs typeface="Times New Roman" pitchFamily="18" charset="0"/>
                        </a:rPr>
                        <a:t>DGM</a:t>
                      </a:r>
                      <a:endParaRPr lang="en-IN" sz="11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Times New Roman" pitchFamily="18" charset="0"/>
                          <a:cs typeface="Times New Roman" pitchFamily="18" charset="0"/>
                        </a:rPr>
                        <a:t>INR 1 </a:t>
                      </a:r>
                      <a:r>
                        <a:rPr lang="en-US" sz="1100" dirty="0" err="1" smtClean="0">
                          <a:latin typeface="Times New Roman" pitchFamily="18" charset="0"/>
                          <a:cs typeface="Times New Roman" pitchFamily="18" charset="0"/>
                        </a:rPr>
                        <a:t>Crore</a:t>
                      </a:r>
                      <a:endParaRPr lang="en-IN" sz="1100" dirty="0" smtClean="0">
                        <a:latin typeface="Times New Roman" pitchFamily="18" charset="0"/>
                        <a:cs typeface="Times New Roman" pitchFamily="18" charset="0"/>
                      </a:endParaRPr>
                    </a:p>
                  </a:txBody>
                  <a:tcPr/>
                </a:tc>
                <a:tc vMerge="1">
                  <a:txBody>
                    <a:bodyPr/>
                    <a:lstStyle/>
                    <a:p>
                      <a:endParaRPr lang="en-IN" dirty="0"/>
                    </a:p>
                  </a:txBody>
                  <a:tcPr/>
                </a:tc>
                <a:tc vMerge="1">
                  <a:txBody>
                    <a:bodyPr/>
                    <a:lstStyle/>
                    <a:p>
                      <a:endParaRPr lang="en-IN" dirty="0"/>
                    </a:p>
                  </a:txBody>
                  <a:tcPr/>
                </a:tc>
              </a:tr>
              <a:tr h="336648">
                <a:tc>
                  <a:txBody>
                    <a:bodyPr/>
                    <a:lstStyle/>
                    <a:p>
                      <a:r>
                        <a:rPr lang="en-US" sz="1100" dirty="0" smtClean="0">
                          <a:latin typeface="Times New Roman" pitchFamily="18" charset="0"/>
                          <a:cs typeface="Times New Roman" pitchFamily="18" charset="0"/>
                        </a:rPr>
                        <a:t>General management &amp; VP</a:t>
                      </a:r>
                      <a:endParaRPr lang="en-IN" sz="11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Times New Roman" pitchFamily="18" charset="0"/>
                          <a:cs typeface="Times New Roman" pitchFamily="18" charset="0"/>
                        </a:rPr>
                        <a:t>INR 1.5 </a:t>
                      </a:r>
                      <a:r>
                        <a:rPr lang="en-US" sz="1100" dirty="0" err="1" smtClean="0">
                          <a:latin typeface="Times New Roman" pitchFamily="18" charset="0"/>
                          <a:cs typeface="Times New Roman" pitchFamily="18" charset="0"/>
                        </a:rPr>
                        <a:t>Crore</a:t>
                      </a:r>
                      <a:endParaRPr lang="en-IN" sz="1100" dirty="0" smtClean="0">
                        <a:latin typeface="Times New Roman" pitchFamily="18" charset="0"/>
                        <a:cs typeface="Times New Roman" pitchFamily="18" charset="0"/>
                      </a:endParaRPr>
                    </a:p>
                  </a:txBody>
                  <a:tcPr/>
                </a:tc>
                <a:tc vMerge="1">
                  <a:txBody>
                    <a:bodyPr/>
                    <a:lstStyle/>
                    <a:p>
                      <a:endParaRPr lang="en-IN" dirty="0"/>
                    </a:p>
                  </a:txBody>
                  <a:tcPr/>
                </a:tc>
                <a:tc vMerge="1">
                  <a:txBody>
                    <a:bodyPr/>
                    <a:lstStyle/>
                    <a:p>
                      <a:endParaRPr lang="en-IN" dirty="0"/>
                    </a:p>
                  </a:txBody>
                  <a:tcPr/>
                </a:tc>
              </a:tr>
              <a:tr h="336648">
                <a:tc>
                  <a:txBody>
                    <a:bodyPr/>
                    <a:lstStyle/>
                    <a:p>
                      <a:r>
                        <a:rPr lang="en-US" sz="1100" dirty="0" smtClean="0">
                          <a:latin typeface="Times New Roman" pitchFamily="18" charset="0"/>
                          <a:cs typeface="Times New Roman" pitchFamily="18" charset="0"/>
                        </a:rPr>
                        <a:t>Senior VP</a:t>
                      </a:r>
                      <a:endParaRPr lang="en-IN" sz="11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Times New Roman" pitchFamily="18" charset="0"/>
                          <a:cs typeface="Times New Roman" pitchFamily="18" charset="0"/>
                        </a:rPr>
                        <a:t>INR 2 </a:t>
                      </a:r>
                      <a:r>
                        <a:rPr lang="en-US" sz="1100" dirty="0" err="1" smtClean="0">
                          <a:latin typeface="Times New Roman" pitchFamily="18" charset="0"/>
                          <a:cs typeface="Times New Roman" pitchFamily="18" charset="0"/>
                        </a:rPr>
                        <a:t>Crore</a:t>
                      </a:r>
                      <a:endParaRPr lang="en-IN" sz="1100" dirty="0" smtClean="0">
                        <a:latin typeface="Times New Roman" pitchFamily="18" charset="0"/>
                        <a:cs typeface="Times New Roman" pitchFamily="18" charset="0"/>
                      </a:endParaRPr>
                    </a:p>
                  </a:txBody>
                  <a:tcPr/>
                </a:tc>
                <a:tc vMerge="1">
                  <a:txBody>
                    <a:bodyPr/>
                    <a:lstStyle/>
                    <a:p>
                      <a:endParaRPr lang="en-IN" dirty="0"/>
                    </a:p>
                  </a:txBody>
                  <a:tcPr/>
                </a:tc>
                <a:tc vMerge="1">
                  <a:txBody>
                    <a:bodyPr/>
                    <a:lstStyle/>
                    <a:p>
                      <a:endParaRPr lang="en-IN" dirty="0"/>
                    </a:p>
                  </a:txBody>
                  <a:tcPr/>
                </a:tc>
              </a:tr>
              <a:tr h="353414">
                <a:tc>
                  <a:txBody>
                    <a:bodyPr/>
                    <a:lstStyle/>
                    <a:p>
                      <a:r>
                        <a:rPr lang="en-US" sz="1100" dirty="0" smtClean="0">
                          <a:latin typeface="Times New Roman" pitchFamily="18" charset="0"/>
                          <a:cs typeface="Times New Roman" pitchFamily="18" charset="0"/>
                        </a:rPr>
                        <a:t>UC</a:t>
                      </a:r>
                      <a:endParaRPr lang="en-IN" sz="11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Times New Roman" pitchFamily="18" charset="0"/>
                          <a:cs typeface="Times New Roman" pitchFamily="18" charset="0"/>
                        </a:rPr>
                        <a:t>INR 2.75</a:t>
                      </a:r>
                      <a:r>
                        <a:rPr lang="en-US" sz="1100" baseline="0" dirty="0" smtClean="0">
                          <a:latin typeface="Times New Roman" pitchFamily="18" charset="0"/>
                          <a:cs typeface="Times New Roman" pitchFamily="18" charset="0"/>
                        </a:rPr>
                        <a:t> </a:t>
                      </a:r>
                      <a:r>
                        <a:rPr lang="en-US" sz="1100" baseline="0" dirty="0" err="1" smtClean="0">
                          <a:latin typeface="Times New Roman" pitchFamily="18" charset="0"/>
                          <a:cs typeface="Times New Roman" pitchFamily="18" charset="0"/>
                        </a:rPr>
                        <a:t>Crore</a:t>
                      </a:r>
                      <a:endParaRPr lang="en-IN" sz="1100" dirty="0" smtClean="0">
                        <a:latin typeface="Times New Roman" pitchFamily="18" charset="0"/>
                        <a:cs typeface="Times New Roman" pitchFamily="18" charset="0"/>
                      </a:endParaRPr>
                    </a:p>
                    <a:p>
                      <a:endParaRPr lang="en-IN" sz="1100" dirty="0">
                        <a:latin typeface="Times New Roman" pitchFamily="18" charset="0"/>
                        <a:cs typeface="Times New Roman" pitchFamily="18" charset="0"/>
                      </a:endParaRPr>
                    </a:p>
                  </a:txBody>
                  <a:tcPr/>
                </a:tc>
                <a:tc vMerge="1">
                  <a:txBody>
                    <a:bodyPr/>
                    <a:lstStyle/>
                    <a:p>
                      <a:endParaRPr lang="en-IN" dirty="0"/>
                    </a:p>
                  </a:txBody>
                  <a:tcPr/>
                </a:tc>
                <a:tc vMerge="1">
                  <a:txBody>
                    <a:bodyPr/>
                    <a:lstStyle/>
                    <a:p>
                      <a:endParaRPr lang="en-IN" dirty="0"/>
                    </a:p>
                  </a:txBody>
                  <a:tcPr/>
                </a:tc>
              </a:tr>
            </a:tbl>
          </a:graphicData>
        </a:graphic>
      </p:graphicFrame>
    </p:spTree>
    <p:extLst>
      <p:ext uri="{BB962C8B-B14F-4D97-AF65-F5344CB8AC3E}">
        <p14:creationId xmlns:p14="http://schemas.microsoft.com/office/powerpoint/2010/main" val="3230605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Claim Procedure</a:t>
            </a:r>
            <a:endParaRPr lang="en-IN" dirty="0"/>
          </a:p>
        </p:txBody>
      </p:sp>
      <p:sp>
        <p:nvSpPr>
          <p:cNvPr id="5" name="Rectangle 4"/>
          <p:cNvSpPr/>
          <p:nvPr/>
        </p:nvSpPr>
        <p:spPr>
          <a:xfrm>
            <a:off x="251520" y="2636912"/>
            <a:ext cx="2520280" cy="137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1400" dirty="0" smtClean="0">
                <a:latin typeface="Times New Roman" pitchFamily="18" charset="0"/>
                <a:cs typeface="Times New Roman" pitchFamily="18" charset="0"/>
              </a:rPr>
              <a:t>Beneficiary notifies HR within 30 days, Who in turn would intimate insurer through prudent and submit required claims documents as soon as possible post intimation</a:t>
            </a:r>
            <a:endParaRPr lang="en-IN" sz="1400" dirty="0">
              <a:latin typeface="Times New Roman" pitchFamily="18" charset="0"/>
              <a:cs typeface="Times New Roman" pitchFamily="18" charset="0"/>
            </a:endParaRPr>
          </a:p>
        </p:txBody>
      </p:sp>
      <p:sp>
        <p:nvSpPr>
          <p:cNvPr id="6" name="Rectangle 5"/>
          <p:cNvSpPr/>
          <p:nvPr/>
        </p:nvSpPr>
        <p:spPr>
          <a:xfrm>
            <a:off x="3275856" y="2761536"/>
            <a:ext cx="2448272"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smtClean="0">
                <a:solidFill>
                  <a:schemeClr val="tx1"/>
                </a:solidFill>
                <a:latin typeface="Times New Roman" pitchFamily="18" charset="0"/>
                <a:cs typeface="Times New Roman" pitchFamily="18" charset="0"/>
              </a:rPr>
              <a:t>On obtaining all relevant documents, insurer begins processing the claims.</a:t>
            </a:r>
            <a:endParaRPr lang="en-IN" sz="1400" dirty="0">
              <a:solidFill>
                <a:schemeClr val="tx1"/>
              </a:solidFill>
              <a:latin typeface="Times New Roman" pitchFamily="18" charset="0"/>
              <a:cs typeface="Times New Roman" pitchFamily="18" charset="0"/>
            </a:endParaRPr>
          </a:p>
        </p:txBody>
      </p:sp>
      <p:sp>
        <p:nvSpPr>
          <p:cNvPr id="7" name="Rectangle 6"/>
          <p:cNvSpPr/>
          <p:nvPr/>
        </p:nvSpPr>
        <p:spPr>
          <a:xfrm>
            <a:off x="1331640" y="5314136"/>
            <a:ext cx="2448272"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smtClean="0">
                <a:solidFill>
                  <a:schemeClr val="tx1"/>
                </a:solidFill>
                <a:latin typeface="Times New Roman" pitchFamily="18" charset="0"/>
                <a:cs typeface="Times New Roman" pitchFamily="18" charset="0"/>
              </a:rPr>
              <a:t>On approval, the NEFT is sent to HR within 7 working days from were it is given to Employee/ Beneficiary </a:t>
            </a:r>
            <a:endParaRPr lang="en-IN" sz="1400" dirty="0">
              <a:solidFill>
                <a:schemeClr val="tx1"/>
              </a:solidFill>
              <a:latin typeface="Times New Roman" pitchFamily="18" charset="0"/>
              <a:cs typeface="Times New Roman" pitchFamily="18" charset="0"/>
            </a:endParaRPr>
          </a:p>
        </p:txBody>
      </p:sp>
      <p:sp>
        <p:nvSpPr>
          <p:cNvPr id="8" name="Rectangle 7"/>
          <p:cNvSpPr/>
          <p:nvPr/>
        </p:nvSpPr>
        <p:spPr>
          <a:xfrm>
            <a:off x="5508104" y="5304184"/>
            <a:ext cx="2448272"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smtClean="0">
                <a:solidFill>
                  <a:schemeClr val="tx1"/>
                </a:solidFill>
                <a:latin typeface="Times New Roman" pitchFamily="18" charset="0"/>
                <a:cs typeface="Times New Roman" pitchFamily="18" charset="0"/>
              </a:rPr>
              <a:t>On rejection of the claim, insurer would provide a valid reason for the rejection to HR/ Employee/ Beneficiary</a:t>
            </a:r>
            <a:endParaRPr lang="en-IN" sz="1400" dirty="0">
              <a:solidFill>
                <a:schemeClr val="tx1"/>
              </a:solidFill>
              <a:latin typeface="Times New Roman" pitchFamily="18" charset="0"/>
              <a:cs typeface="Times New Roman" pitchFamily="18" charset="0"/>
            </a:endParaRPr>
          </a:p>
        </p:txBody>
      </p:sp>
      <p:sp>
        <p:nvSpPr>
          <p:cNvPr id="9" name="Rectangle 8"/>
          <p:cNvSpPr/>
          <p:nvPr/>
        </p:nvSpPr>
        <p:spPr>
          <a:xfrm>
            <a:off x="6228184" y="2744748"/>
            <a:ext cx="2448272"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smtClean="0">
                <a:solidFill>
                  <a:schemeClr val="tx1"/>
                </a:solidFill>
                <a:latin typeface="Times New Roman" pitchFamily="18" charset="0"/>
                <a:cs typeface="Times New Roman" pitchFamily="18" charset="0"/>
              </a:rPr>
              <a:t>Claim investigation and review within 7 days of submission of all the documents required </a:t>
            </a:r>
            <a:endParaRPr lang="en-IN" sz="1400" dirty="0">
              <a:solidFill>
                <a:schemeClr val="tx1"/>
              </a:solidFill>
              <a:latin typeface="Times New Roman" pitchFamily="18" charset="0"/>
              <a:cs typeface="Times New Roman" pitchFamily="18" charset="0"/>
            </a:endParaRPr>
          </a:p>
        </p:txBody>
      </p:sp>
      <p:sp>
        <p:nvSpPr>
          <p:cNvPr id="10" name="Diamond 9"/>
          <p:cNvSpPr/>
          <p:nvPr/>
        </p:nvSpPr>
        <p:spPr>
          <a:xfrm>
            <a:off x="3682752" y="4008804"/>
            <a:ext cx="1825352" cy="129688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latin typeface="Times New Roman" pitchFamily="18" charset="0"/>
                <a:cs typeface="Times New Roman" pitchFamily="18" charset="0"/>
              </a:rPr>
              <a:t>Is claim approved within 10 working days ? </a:t>
            </a:r>
            <a:endParaRPr lang="en-IN" sz="1200" dirty="0">
              <a:solidFill>
                <a:schemeClr val="tx1"/>
              </a:solidFill>
              <a:latin typeface="Times New Roman" pitchFamily="18" charset="0"/>
              <a:cs typeface="Times New Roman" pitchFamily="18" charset="0"/>
            </a:endParaRPr>
          </a:p>
        </p:txBody>
      </p:sp>
      <p:sp>
        <p:nvSpPr>
          <p:cNvPr id="11" name="Right Arrow 10"/>
          <p:cNvSpPr/>
          <p:nvPr/>
        </p:nvSpPr>
        <p:spPr>
          <a:xfrm>
            <a:off x="2771800" y="3068960"/>
            <a:ext cx="432048" cy="242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sz="1600"/>
          </a:p>
        </p:txBody>
      </p:sp>
      <p:sp>
        <p:nvSpPr>
          <p:cNvPr id="12" name="Right Arrow 11"/>
          <p:cNvSpPr/>
          <p:nvPr/>
        </p:nvSpPr>
        <p:spPr>
          <a:xfrm>
            <a:off x="5796136" y="3140212"/>
            <a:ext cx="432048" cy="242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sz="1600"/>
          </a:p>
        </p:txBody>
      </p:sp>
      <p:cxnSp>
        <p:nvCxnSpPr>
          <p:cNvPr id="13" name="Elbow Connector 12"/>
          <p:cNvCxnSpPr>
            <a:stCxn id="9" idx="2"/>
            <a:endCxn id="10" idx="0"/>
          </p:cNvCxnSpPr>
          <p:nvPr/>
        </p:nvCxnSpPr>
        <p:spPr>
          <a:xfrm rot="5400000">
            <a:off x="5849046" y="2405530"/>
            <a:ext cx="349656" cy="2856892"/>
          </a:xfrm>
          <a:prstGeom prst="bentConnector3">
            <a:avLst/>
          </a:prstGeom>
          <a:ln>
            <a:tailEnd type="arrow"/>
          </a:ln>
        </p:spPr>
        <p:style>
          <a:lnRef idx="3">
            <a:schemeClr val="dk1"/>
          </a:lnRef>
          <a:fillRef idx="0">
            <a:schemeClr val="dk1"/>
          </a:fillRef>
          <a:effectRef idx="2">
            <a:schemeClr val="dk1"/>
          </a:effectRef>
          <a:fontRef idx="minor">
            <a:schemeClr val="tx1"/>
          </a:fontRef>
        </p:style>
      </p:cxnSp>
      <p:cxnSp>
        <p:nvCxnSpPr>
          <p:cNvPr id="14" name="Elbow Connector 13"/>
          <p:cNvCxnSpPr>
            <a:stCxn id="10" idx="1"/>
          </p:cNvCxnSpPr>
          <p:nvPr/>
        </p:nvCxnSpPr>
        <p:spPr>
          <a:xfrm rot="10800000" flipV="1">
            <a:off x="2351466" y="4657248"/>
            <a:ext cx="1331286" cy="646936"/>
          </a:xfrm>
          <a:prstGeom prst="bentConnector3">
            <a:avLst>
              <a:gd name="adj1" fmla="val 100140"/>
            </a:avLst>
          </a:prstGeom>
          <a:ln>
            <a:tailEnd type="arrow"/>
          </a:ln>
        </p:spPr>
        <p:style>
          <a:lnRef idx="3">
            <a:schemeClr val="dk1"/>
          </a:lnRef>
          <a:fillRef idx="0">
            <a:schemeClr val="dk1"/>
          </a:fillRef>
          <a:effectRef idx="2">
            <a:schemeClr val="dk1"/>
          </a:effectRef>
          <a:fontRef idx="minor">
            <a:schemeClr val="tx1"/>
          </a:fontRef>
        </p:style>
      </p:cxnSp>
      <p:cxnSp>
        <p:nvCxnSpPr>
          <p:cNvPr id="15" name="Elbow Connector 14"/>
          <p:cNvCxnSpPr>
            <a:stCxn id="10" idx="3"/>
          </p:cNvCxnSpPr>
          <p:nvPr/>
        </p:nvCxnSpPr>
        <p:spPr>
          <a:xfrm>
            <a:off x="5508104" y="4657248"/>
            <a:ext cx="1224136" cy="646840"/>
          </a:xfrm>
          <a:prstGeom prst="bentConnector3">
            <a:avLst>
              <a:gd name="adj1" fmla="val 100047"/>
            </a:avLst>
          </a:prstGeom>
          <a:ln>
            <a:tailEnd type="arrow"/>
          </a:ln>
        </p:spPr>
        <p:style>
          <a:lnRef idx="3">
            <a:schemeClr val="dk1"/>
          </a:lnRef>
          <a:fillRef idx="0">
            <a:schemeClr val="dk1"/>
          </a:fillRef>
          <a:effectRef idx="2">
            <a:schemeClr val="dk1"/>
          </a:effectRef>
          <a:fontRef idx="minor">
            <a:schemeClr val="tx1"/>
          </a:fontRef>
        </p:style>
      </p:cxnSp>
      <p:sp>
        <p:nvSpPr>
          <p:cNvPr id="16" name="Rectangle 15"/>
          <p:cNvSpPr/>
          <p:nvPr/>
        </p:nvSpPr>
        <p:spPr>
          <a:xfrm>
            <a:off x="2883465" y="4355812"/>
            <a:ext cx="519438" cy="369332"/>
          </a:xfrm>
          <a:prstGeom prst="rect">
            <a:avLst/>
          </a:prstGeom>
        </p:spPr>
        <p:txBody>
          <a:bodyPr wrap="none">
            <a:spAutoFit/>
          </a:bodyPr>
          <a:lstStyle/>
          <a:p>
            <a:pPr algn="just"/>
            <a:r>
              <a:rPr lang="en-US" dirty="0" smtClean="0">
                <a:latin typeface="Times New Roman" pitchFamily="18" charset="0"/>
                <a:cs typeface="Times New Roman" pitchFamily="18" charset="0"/>
              </a:rPr>
              <a:t>Yes</a:t>
            </a:r>
            <a:endParaRPr lang="en-IN" dirty="0">
              <a:latin typeface="Times New Roman" pitchFamily="18" charset="0"/>
              <a:cs typeface="Times New Roman" pitchFamily="18" charset="0"/>
            </a:endParaRPr>
          </a:p>
        </p:txBody>
      </p:sp>
      <p:sp>
        <p:nvSpPr>
          <p:cNvPr id="17" name="Rectangle 16"/>
          <p:cNvSpPr/>
          <p:nvPr/>
        </p:nvSpPr>
        <p:spPr>
          <a:xfrm>
            <a:off x="5821655" y="4355812"/>
            <a:ext cx="468398" cy="369332"/>
          </a:xfrm>
          <a:prstGeom prst="rect">
            <a:avLst/>
          </a:prstGeom>
        </p:spPr>
        <p:txBody>
          <a:bodyPr wrap="none">
            <a:spAutoFit/>
          </a:bodyPr>
          <a:lstStyle/>
          <a:p>
            <a:pPr algn="just"/>
            <a:r>
              <a:rPr lang="en-US" dirty="0" smtClean="0">
                <a:latin typeface="Times New Roman" pitchFamily="18" charset="0"/>
                <a:cs typeface="Times New Roman" pitchFamily="18" charset="0"/>
              </a:rPr>
              <a:t>No</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38213005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296</TotalTime>
  <Words>760</Words>
  <Application>Microsoft Office PowerPoint</Application>
  <PresentationFormat>On-screen Show (4:3)</PresentationFormat>
  <Paragraphs>177</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Waveform</vt:lpstr>
      <vt:lpstr>Medical Insurance Policy</vt:lpstr>
      <vt:lpstr>Group Medical Insurance</vt:lpstr>
      <vt:lpstr>Policy Parameters</vt:lpstr>
      <vt:lpstr>Group Personal Accidental</vt:lpstr>
      <vt:lpstr>Benefits Details </vt:lpstr>
      <vt:lpstr>Claims Procedure</vt:lpstr>
      <vt:lpstr>Group Term Life </vt:lpstr>
      <vt:lpstr>Claim Procedure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38</cp:revision>
  <dcterms:created xsi:type="dcterms:W3CDTF">2023-10-17T01:51:10Z</dcterms:created>
  <dcterms:modified xsi:type="dcterms:W3CDTF">2023-10-17T08:03:12Z</dcterms:modified>
</cp:coreProperties>
</file>