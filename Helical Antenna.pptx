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sldIdLst>
    <p:sldId id="256" r:id="rId2"/>
    <p:sldId id="267" r:id="rId3"/>
    <p:sldId id="259" r:id="rId4"/>
    <p:sldId id="260" r:id="rId5"/>
    <p:sldId id="258"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85" autoAdjust="0"/>
    <p:restoredTop sz="94660"/>
  </p:normalViewPr>
  <p:slideViewPr>
    <p:cSldViewPr>
      <p:cViewPr varScale="1">
        <p:scale>
          <a:sx n="83" d="100"/>
          <a:sy n="83" d="100"/>
        </p:scale>
        <p:origin x="-1358" y="-7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65A25B2B-C1EA-4FA8-93B5-FB6BF36F5F57}" type="datetimeFigureOut">
              <a:rPr lang="en-IN" smtClean="0"/>
              <a:t>20-07-2025</a:t>
            </a:fld>
            <a:endParaRPr lang="en-IN"/>
          </a:p>
        </p:txBody>
      </p:sp>
      <p:sp>
        <p:nvSpPr>
          <p:cNvPr id="20" name="Footer Placeholder 19"/>
          <p:cNvSpPr>
            <a:spLocks noGrp="1"/>
          </p:cNvSpPr>
          <p:nvPr>
            <p:ph type="ftr" sz="quarter" idx="11"/>
          </p:nvPr>
        </p:nvSpPr>
        <p:spPr/>
        <p:txBody>
          <a:bodyPr/>
          <a:lstStyle>
            <a:extLst/>
          </a:lstStyle>
          <a:p>
            <a:endParaRPr lang="en-IN"/>
          </a:p>
        </p:txBody>
      </p:sp>
      <p:sp>
        <p:nvSpPr>
          <p:cNvPr id="10" name="Slide Number Placeholder 9"/>
          <p:cNvSpPr>
            <a:spLocks noGrp="1"/>
          </p:cNvSpPr>
          <p:nvPr>
            <p:ph type="sldNum" sz="quarter" idx="12"/>
          </p:nvPr>
        </p:nvSpPr>
        <p:spPr/>
        <p:txBody>
          <a:bodyPr/>
          <a:lstStyle>
            <a:extLst/>
          </a:lstStyle>
          <a:p>
            <a:fld id="{C06A0251-0BA4-4B3A-956F-5F23458C4913}" type="slidenum">
              <a:rPr lang="en-IN" smtClean="0"/>
              <a:t>‹#›</a:t>
            </a:fld>
            <a:endParaRPr lang="en-IN"/>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5A25B2B-C1EA-4FA8-93B5-FB6BF36F5F57}" type="datetimeFigureOut">
              <a:rPr lang="en-IN" smtClean="0"/>
              <a:t>20-07-2025</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C06A0251-0BA4-4B3A-956F-5F23458C4913}"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65A25B2B-C1EA-4FA8-93B5-FB6BF36F5F57}" type="datetimeFigureOut">
              <a:rPr lang="en-IN" smtClean="0"/>
              <a:t>20-07-2025</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C06A0251-0BA4-4B3A-956F-5F23458C4913}" type="slidenum">
              <a:rPr lang="en-IN" smtClean="0"/>
              <a:t>‹#›</a:t>
            </a:fld>
            <a:endParaRPr lang="en-IN"/>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65A25B2B-C1EA-4FA8-93B5-FB6BF36F5F57}" type="datetimeFigureOut">
              <a:rPr lang="en-IN" smtClean="0"/>
              <a:t>20-07-2025</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C06A0251-0BA4-4B3A-956F-5F23458C4913}"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65A25B2B-C1EA-4FA8-93B5-FB6BF36F5F57}" type="datetimeFigureOut">
              <a:rPr lang="en-IN" smtClean="0"/>
              <a:t>20-07-2025</a:t>
            </a:fld>
            <a:endParaRPr lang="en-IN"/>
          </a:p>
        </p:txBody>
      </p:sp>
      <p:sp>
        <p:nvSpPr>
          <p:cNvPr id="8" name="Footer Placeholder 7"/>
          <p:cNvSpPr>
            <a:spLocks noGrp="1"/>
          </p:cNvSpPr>
          <p:nvPr>
            <p:ph type="ftr" sz="quarter" idx="11"/>
          </p:nvPr>
        </p:nvSpPr>
        <p:spPr/>
        <p:txBody>
          <a:bodyPr/>
          <a:lstStyle>
            <a:extLst/>
          </a:lstStyle>
          <a:p>
            <a:endParaRPr lang="en-IN"/>
          </a:p>
        </p:txBody>
      </p:sp>
      <p:sp>
        <p:nvSpPr>
          <p:cNvPr id="9" name="Slide Number Placeholder 8"/>
          <p:cNvSpPr>
            <a:spLocks noGrp="1"/>
          </p:cNvSpPr>
          <p:nvPr>
            <p:ph type="sldNum" sz="quarter" idx="12"/>
          </p:nvPr>
        </p:nvSpPr>
        <p:spPr/>
        <p:txBody>
          <a:bodyPr/>
          <a:lstStyle>
            <a:extLst/>
          </a:lstStyle>
          <a:p>
            <a:fld id="{C06A0251-0BA4-4B3A-956F-5F23458C4913}"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65A25B2B-C1EA-4FA8-93B5-FB6BF36F5F57}" type="datetimeFigureOut">
              <a:rPr lang="en-IN" smtClean="0"/>
              <a:t>20-07-2025</a:t>
            </a:fld>
            <a:endParaRPr lang="en-IN"/>
          </a:p>
        </p:txBody>
      </p:sp>
      <p:sp>
        <p:nvSpPr>
          <p:cNvPr id="4" name="Footer Placeholder 3"/>
          <p:cNvSpPr>
            <a:spLocks noGrp="1"/>
          </p:cNvSpPr>
          <p:nvPr>
            <p:ph type="ftr" sz="quarter" idx="11"/>
          </p:nvPr>
        </p:nvSpPr>
        <p:spPr/>
        <p:txBody>
          <a:bodyPr/>
          <a:lstStyle>
            <a:extLst/>
          </a:lstStyle>
          <a:p>
            <a:endParaRPr lang="en-IN"/>
          </a:p>
        </p:txBody>
      </p:sp>
      <p:sp>
        <p:nvSpPr>
          <p:cNvPr id="5" name="Slide Number Placeholder 4"/>
          <p:cNvSpPr>
            <a:spLocks noGrp="1"/>
          </p:cNvSpPr>
          <p:nvPr>
            <p:ph type="sldNum" sz="quarter" idx="12"/>
          </p:nvPr>
        </p:nvSpPr>
        <p:spPr/>
        <p:txBody>
          <a:bodyPr/>
          <a:lstStyle>
            <a:extLst/>
          </a:lstStyle>
          <a:p>
            <a:fld id="{C06A0251-0BA4-4B3A-956F-5F23458C4913}"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65A25B2B-C1EA-4FA8-93B5-FB6BF36F5F57}" type="datetimeFigureOut">
              <a:rPr lang="en-IN" smtClean="0"/>
              <a:t>20-07-2025</a:t>
            </a:fld>
            <a:endParaRPr lang="en-IN"/>
          </a:p>
        </p:txBody>
      </p:sp>
      <p:sp>
        <p:nvSpPr>
          <p:cNvPr id="3" name="Footer Placeholder 2"/>
          <p:cNvSpPr>
            <a:spLocks noGrp="1"/>
          </p:cNvSpPr>
          <p:nvPr>
            <p:ph type="ftr" sz="quarter" idx="11"/>
          </p:nvPr>
        </p:nvSpPr>
        <p:spPr/>
        <p:txBody>
          <a:bodyPr/>
          <a:lstStyle>
            <a:extLst/>
          </a:lstStyle>
          <a:p>
            <a:endParaRPr lang="en-IN"/>
          </a:p>
        </p:txBody>
      </p:sp>
      <p:sp>
        <p:nvSpPr>
          <p:cNvPr id="4" name="Slide Number Placeholder 3"/>
          <p:cNvSpPr>
            <a:spLocks noGrp="1"/>
          </p:cNvSpPr>
          <p:nvPr>
            <p:ph type="sldNum" sz="quarter" idx="12"/>
          </p:nvPr>
        </p:nvSpPr>
        <p:spPr/>
        <p:txBody>
          <a:bodyPr/>
          <a:lstStyle>
            <a:extLst/>
          </a:lstStyle>
          <a:p>
            <a:fld id="{C06A0251-0BA4-4B3A-956F-5F23458C4913}" type="slidenum">
              <a:rPr lang="en-IN" smtClean="0"/>
              <a:t>‹#›</a:t>
            </a:fld>
            <a:endParaRPr lang="en-IN"/>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65A25B2B-C1EA-4FA8-93B5-FB6BF36F5F57}" type="datetimeFigureOut">
              <a:rPr lang="en-IN" smtClean="0"/>
              <a:t>20-07-2025</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C06A0251-0BA4-4B3A-956F-5F23458C4913}"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65A25B2B-C1EA-4FA8-93B5-FB6BF36F5F57}" type="datetimeFigureOut">
              <a:rPr lang="en-IN" smtClean="0"/>
              <a:t>20-07-2025</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C06A0251-0BA4-4B3A-956F-5F23458C4913}" type="slidenum">
              <a:rPr lang="en-IN" smtClean="0"/>
              <a:t>‹#›</a:t>
            </a:fld>
            <a:endParaRPr lang="en-IN"/>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5A25B2B-C1EA-4FA8-93B5-FB6BF36F5F57}" type="datetimeFigureOut">
              <a:rPr lang="en-IN" smtClean="0"/>
              <a:t>20-07-2025</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C06A0251-0BA4-4B3A-956F-5F23458C4913}"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5A25B2B-C1EA-4FA8-93B5-FB6BF36F5F57}" type="datetimeFigureOut">
              <a:rPr lang="en-IN" smtClean="0"/>
              <a:t>20-07-2025</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C06A0251-0BA4-4B3A-956F-5F23458C4913}"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65A25B2B-C1EA-4FA8-93B5-FB6BF36F5F57}" type="datetimeFigureOut">
              <a:rPr lang="en-IN" smtClean="0"/>
              <a:t>20-07-2025</a:t>
            </a:fld>
            <a:endParaRPr lang="en-IN"/>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IN"/>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C06A0251-0BA4-4B3A-956F-5F23458C4913}" type="slidenum">
              <a:rPr lang="en-IN" smtClean="0"/>
              <a:t>‹#›</a:t>
            </a:fld>
            <a:endParaRPr lang="en-IN"/>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48680"/>
            <a:ext cx="7772400" cy="1008112"/>
          </a:xfrm>
        </p:spPr>
        <p:txBody>
          <a:bodyPr>
            <a:normAutofit/>
          </a:bodyPr>
          <a:lstStyle/>
          <a:p>
            <a:r>
              <a:rPr lang="en-US" sz="4000" dirty="0" smtClean="0">
                <a:latin typeface="Times New Roman" pitchFamily="18" charset="0"/>
                <a:cs typeface="Times New Roman" pitchFamily="18" charset="0"/>
              </a:rPr>
              <a:t>  Helical Antenna</a:t>
            </a:r>
            <a:endParaRPr lang="en-IN" sz="4000" dirty="0">
              <a:latin typeface="Times New Roman" pitchFamily="18" charset="0"/>
              <a:cs typeface="Times New Roman" pitchFamily="18" charset="0"/>
            </a:endParaRPr>
          </a:p>
        </p:txBody>
      </p:sp>
      <p:sp>
        <p:nvSpPr>
          <p:cNvPr id="3" name="Subtitle 2"/>
          <p:cNvSpPr>
            <a:spLocks noGrp="1"/>
          </p:cNvSpPr>
          <p:nvPr>
            <p:ph type="subTitle" idx="1"/>
          </p:nvPr>
        </p:nvSpPr>
        <p:spPr>
          <a:xfrm>
            <a:off x="5220072" y="4581128"/>
            <a:ext cx="3672408" cy="1728192"/>
          </a:xfrm>
        </p:spPr>
        <p:txBody>
          <a:bodyPr>
            <a:normAutofit lnSpcReduction="10000"/>
          </a:bodyPr>
          <a:lstStyle/>
          <a:p>
            <a:endParaRPr lang="en-US" sz="1900" dirty="0" smtClean="0">
              <a:latin typeface="Times New Roman" pitchFamily="18" charset="0"/>
              <a:cs typeface="Times New Roman" pitchFamily="18" charset="0"/>
            </a:endParaRPr>
          </a:p>
          <a:p>
            <a:r>
              <a:rPr lang="en-US" sz="1900" dirty="0" smtClean="0">
                <a:latin typeface="Times New Roman" pitchFamily="18" charset="0"/>
                <a:cs typeface="Times New Roman" pitchFamily="18" charset="0"/>
              </a:rPr>
              <a:t>Presented By</a:t>
            </a:r>
          </a:p>
          <a:p>
            <a:r>
              <a:rPr lang="en-US" sz="1900" dirty="0" err="1" smtClean="0">
                <a:latin typeface="Times New Roman" pitchFamily="18" charset="0"/>
                <a:cs typeface="Times New Roman" pitchFamily="18" charset="0"/>
              </a:rPr>
              <a:t>Sapna</a:t>
            </a:r>
            <a:r>
              <a:rPr lang="en-US" sz="1900" dirty="0" smtClean="0">
                <a:latin typeface="Times New Roman" pitchFamily="18" charset="0"/>
                <a:cs typeface="Times New Roman" pitchFamily="18" charset="0"/>
              </a:rPr>
              <a:t> M </a:t>
            </a:r>
            <a:r>
              <a:rPr lang="en-US" sz="1900" dirty="0" err="1" smtClean="0">
                <a:latin typeface="Times New Roman" pitchFamily="18" charset="0"/>
                <a:cs typeface="Times New Roman" pitchFamily="18" charset="0"/>
              </a:rPr>
              <a:t>Jaganure</a:t>
            </a:r>
            <a:r>
              <a:rPr lang="en-US" sz="1900" dirty="0" smtClean="0">
                <a:latin typeface="Times New Roman" pitchFamily="18" charset="0"/>
                <a:cs typeface="Times New Roman" pitchFamily="18" charset="0"/>
              </a:rPr>
              <a:t>(2gi20ec419)</a:t>
            </a:r>
          </a:p>
          <a:p>
            <a:r>
              <a:rPr lang="en-US" sz="1900" dirty="0" err="1" smtClean="0">
                <a:latin typeface="Times New Roman" pitchFamily="18" charset="0"/>
                <a:cs typeface="Times New Roman" pitchFamily="18" charset="0"/>
              </a:rPr>
              <a:t>Shivani</a:t>
            </a:r>
            <a:r>
              <a:rPr lang="en-US" sz="1900" dirty="0" smtClean="0">
                <a:latin typeface="Times New Roman" pitchFamily="18" charset="0"/>
                <a:cs typeface="Times New Roman" pitchFamily="18" charset="0"/>
              </a:rPr>
              <a:t> S </a:t>
            </a:r>
            <a:r>
              <a:rPr lang="en-US" sz="1900" dirty="0" err="1" smtClean="0">
                <a:latin typeface="Times New Roman" pitchFamily="18" charset="0"/>
                <a:cs typeface="Times New Roman" pitchFamily="18" charset="0"/>
              </a:rPr>
              <a:t>Pujeri</a:t>
            </a:r>
            <a:r>
              <a:rPr lang="en-US" sz="1900" dirty="0" smtClean="0">
                <a:latin typeface="Times New Roman" pitchFamily="18" charset="0"/>
                <a:cs typeface="Times New Roman" pitchFamily="18" charset="0"/>
              </a:rPr>
              <a:t>(2gi20ec422)</a:t>
            </a:r>
          </a:p>
          <a:p>
            <a:r>
              <a:rPr lang="en-US" sz="1900" dirty="0" err="1" smtClean="0">
                <a:latin typeface="Times New Roman" pitchFamily="18" charset="0"/>
                <a:cs typeface="Times New Roman" pitchFamily="18" charset="0"/>
              </a:rPr>
              <a:t>Snehal</a:t>
            </a:r>
            <a:r>
              <a:rPr lang="en-US" sz="1900" dirty="0" smtClean="0">
                <a:latin typeface="Times New Roman" pitchFamily="18" charset="0"/>
                <a:cs typeface="Times New Roman" pitchFamily="18" charset="0"/>
              </a:rPr>
              <a:t> S </a:t>
            </a:r>
            <a:r>
              <a:rPr lang="en-US" sz="1900" dirty="0" err="1" smtClean="0">
                <a:latin typeface="Times New Roman" pitchFamily="18" charset="0"/>
                <a:cs typeface="Times New Roman" pitchFamily="18" charset="0"/>
              </a:rPr>
              <a:t>Kanbargi</a:t>
            </a:r>
            <a:r>
              <a:rPr lang="en-US" sz="1900" dirty="0" smtClean="0">
                <a:latin typeface="Times New Roman" pitchFamily="18" charset="0"/>
                <a:cs typeface="Times New Roman" pitchFamily="18" charset="0"/>
              </a:rPr>
              <a:t>(2gi20ec424)</a:t>
            </a:r>
          </a:p>
          <a:p>
            <a:endParaRPr lang="en-IN" sz="2800" dirty="0">
              <a:latin typeface="Times New Roman" pitchFamily="18" charset="0"/>
              <a:cs typeface="Times New Roman" pitchFamily="18" charset="0"/>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848" y="2348880"/>
            <a:ext cx="2857500" cy="1848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75747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Introduction</a:t>
            </a:r>
            <a:endParaRPr lang="en-IN" dirty="0"/>
          </a:p>
        </p:txBody>
      </p:sp>
      <p:sp>
        <p:nvSpPr>
          <p:cNvPr id="3" name="Content Placeholder 2"/>
          <p:cNvSpPr>
            <a:spLocks noGrp="1"/>
          </p:cNvSpPr>
          <p:nvPr>
            <p:ph sz="half" idx="1"/>
          </p:nvPr>
        </p:nvSpPr>
        <p:spPr/>
        <p:txBody>
          <a:bodyPr>
            <a:normAutofit fontScale="62500" lnSpcReduction="20000"/>
          </a:bodyPr>
          <a:lstStyle/>
          <a:p>
            <a:pPr marL="0" indent="0" algn="just">
              <a:buNone/>
            </a:pPr>
            <a:r>
              <a:rPr lang="en-US" dirty="0" smtClean="0">
                <a:latin typeface="Times New Roman" pitchFamily="18" charset="0"/>
                <a:cs typeface="Times New Roman" pitchFamily="18" charset="0"/>
              </a:rPr>
              <a:t>	The </a:t>
            </a:r>
            <a:r>
              <a:rPr lang="en-US" dirty="0">
                <a:latin typeface="Times New Roman" pitchFamily="18" charset="0"/>
                <a:cs typeface="Times New Roman" pitchFamily="18" charset="0"/>
              </a:rPr>
              <a:t>simplest antennas which are used widely in ultra-high frequencies are known as helical antennas, so this antenna works in VHF &amp; UHF ranges. These antennas are designed with conducting wire in a helix shape. This antenna has some unique characteristics like wide bandwidth, high gain &amp; circular </a:t>
            </a:r>
            <a:r>
              <a:rPr lang="en-US" dirty="0" smtClean="0">
                <a:latin typeface="Times New Roman" pitchFamily="18" charset="0"/>
                <a:cs typeface="Times New Roman" pitchFamily="18" charset="0"/>
              </a:rPr>
              <a:t>polarization.</a:t>
            </a:r>
          </a:p>
          <a:p>
            <a:pPr marL="0" indent="0">
              <a:buNone/>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frequency range of this antenna ranges </a:t>
            </a:r>
            <a:r>
              <a:rPr lang="en-US">
                <a:latin typeface="Times New Roman" pitchFamily="18" charset="0"/>
                <a:cs typeface="Times New Roman" pitchFamily="18" charset="0"/>
              </a:rPr>
              <a:t>from </a:t>
            </a:r>
            <a:r>
              <a:rPr lang="en-US" smtClean="0">
                <a:latin typeface="Times New Roman" pitchFamily="18" charset="0"/>
                <a:cs typeface="Times New Roman" pitchFamily="18" charset="0"/>
              </a:rPr>
              <a:t>30MHz-3GHz</a:t>
            </a:r>
            <a:r>
              <a:rPr lang="en-US" dirty="0">
                <a:latin typeface="Times New Roman" pitchFamily="18" charset="0"/>
                <a:cs typeface="Times New Roman" pitchFamily="18" charset="0"/>
              </a:rPr>
              <a:t>. This antenna is used in space communication such as satellite </a:t>
            </a:r>
            <a:r>
              <a:rPr lang="en-US" dirty="0" smtClean="0">
                <a:latin typeface="Times New Roman" pitchFamily="18" charset="0"/>
                <a:cs typeface="Times New Roman" pitchFamily="18" charset="0"/>
              </a:rPr>
              <a:t>relays</a:t>
            </a:r>
            <a:r>
              <a:rPr lang="en-US" dirty="0">
                <a:latin typeface="Times New Roman" pitchFamily="18" charset="0"/>
                <a:cs typeface="Times New Roman" pitchFamily="18" charset="0"/>
              </a:rPr>
              <a:t> and also in radio astronomy, wireless </a:t>
            </a:r>
            <a:r>
              <a:rPr lang="en-US" dirty="0" smtClean="0">
                <a:latin typeface="Times New Roman" pitchFamily="18" charset="0"/>
                <a:cs typeface="Times New Roman" pitchFamily="18" charset="0"/>
              </a:rPr>
              <a:t>networking &amp; satellite communication.</a:t>
            </a:r>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endParaRPr lang="en-IN" dirty="0">
              <a:latin typeface="Times New Roman" pitchFamily="18" charset="0"/>
              <a:cs typeface="Times New Roman" pitchFamily="18" charset="0"/>
            </a:endParaRPr>
          </a:p>
          <a:p>
            <a:endParaRPr lang="en-IN" dirty="0"/>
          </a:p>
        </p:txBody>
      </p:sp>
      <p:pic>
        <p:nvPicPr>
          <p:cNvPr id="5" name="Content Placeholder 4" descr="Helical Antenna"/>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5436096" y="1628800"/>
            <a:ext cx="2792992" cy="3728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51270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Features</a:t>
            </a: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a:xfrm>
            <a:off x="1115616" y="1412776"/>
            <a:ext cx="7571184" cy="5040560"/>
          </a:xfrm>
        </p:spPr>
        <p:txBody>
          <a:bodyPr>
            <a:noAutofit/>
          </a:bodyPr>
          <a:lstStyle/>
          <a:p>
            <a:pPr fontAlgn="base"/>
            <a:r>
              <a:rPr lang="en-US" sz="2400" dirty="0">
                <a:latin typeface="Times New Roman" pitchFamily="18" charset="0"/>
                <a:cs typeface="Times New Roman" pitchFamily="18" charset="0"/>
              </a:rPr>
              <a:t>This is a simple antenna used for circular polarization.</a:t>
            </a:r>
          </a:p>
          <a:p>
            <a:pPr fontAlgn="base"/>
            <a:r>
              <a:rPr lang="en-US" sz="2400" dirty="0">
                <a:latin typeface="Times New Roman" pitchFamily="18" charset="0"/>
                <a:cs typeface="Times New Roman" pitchFamily="18" charset="0"/>
              </a:rPr>
              <a:t>It is utilized in different bands like VHF &amp;UHF.</a:t>
            </a:r>
          </a:p>
          <a:p>
            <a:pPr fontAlgn="base"/>
            <a:r>
              <a:rPr lang="en-US" sz="2400" dirty="0">
                <a:latin typeface="Times New Roman" pitchFamily="18" charset="0"/>
                <a:cs typeface="Times New Roman" pitchFamily="18" charset="0"/>
              </a:rPr>
              <a:t>It is most commonly used in axial mode.</a:t>
            </a:r>
          </a:p>
          <a:p>
            <a:pPr fontAlgn="base"/>
            <a:r>
              <a:rPr lang="en-US" sz="2400" dirty="0">
                <a:latin typeface="Times New Roman" pitchFamily="18" charset="0"/>
                <a:cs typeface="Times New Roman" pitchFamily="18" charset="0"/>
              </a:rPr>
              <a:t>It is not chosen in normal mode where efficiency and </a:t>
            </a:r>
            <a:r>
              <a:rPr lang="en-US" sz="2400" dirty="0" err="1">
                <a:latin typeface="Times New Roman" pitchFamily="18" charset="0"/>
                <a:cs typeface="Times New Roman" pitchFamily="18" charset="0"/>
              </a:rPr>
              <a:t>beamwidth</a:t>
            </a:r>
            <a:r>
              <a:rPr lang="en-US" sz="2400" dirty="0">
                <a:latin typeface="Times New Roman" pitchFamily="18" charset="0"/>
                <a:cs typeface="Times New Roman" pitchFamily="18" charset="0"/>
              </a:rPr>
              <a:t> are small in this mode.</a:t>
            </a:r>
          </a:p>
          <a:p>
            <a:pPr fontAlgn="base"/>
            <a:r>
              <a:rPr lang="en-US" sz="2400" dirty="0">
                <a:latin typeface="Times New Roman" pitchFamily="18" charset="0"/>
                <a:cs typeface="Times New Roman" pitchFamily="18" charset="0"/>
              </a:rPr>
              <a:t>Its design is very simple &amp; has maximum directivity.</a:t>
            </a:r>
          </a:p>
          <a:p>
            <a:pPr fontAlgn="base"/>
            <a:r>
              <a:rPr lang="en-US" sz="2400" dirty="0">
                <a:latin typeface="Times New Roman" pitchFamily="18" charset="0"/>
                <a:cs typeface="Times New Roman" pitchFamily="18" charset="0"/>
              </a:rPr>
              <a:t>In axial mode, it is a wideband antenna.</a:t>
            </a:r>
          </a:p>
          <a:p>
            <a:pPr fontAlgn="base"/>
            <a:r>
              <a:rPr lang="en-US" sz="2400" dirty="0">
                <a:latin typeface="Times New Roman" pitchFamily="18" charset="0"/>
                <a:cs typeface="Times New Roman" pitchFamily="18" charset="0"/>
              </a:rPr>
              <a:t>If the axial ratio is zero then, linear horizontal polarization occurs.</a:t>
            </a:r>
          </a:p>
          <a:p>
            <a:pPr fontAlgn="base"/>
            <a:r>
              <a:rPr lang="en-US" sz="2400" dirty="0">
                <a:latin typeface="Times New Roman" pitchFamily="18" charset="0"/>
                <a:cs typeface="Times New Roman" pitchFamily="18" charset="0"/>
              </a:rPr>
              <a:t>If the axial ratio is infinite then linear vertical polarization occurs.</a:t>
            </a:r>
          </a:p>
          <a:p>
            <a:pPr fontAlgn="base"/>
            <a:r>
              <a:rPr lang="en-US" sz="2400" dirty="0">
                <a:latin typeface="Times New Roman" pitchFamily="18" charset="0"/>
                <a:cs typeface="Times New Roman" pitchFamily="18" charset="0"/>
              </a:rPr>
              <a:t>If the axial ratio is one, then circular polarization occurs.</a:t>
            </a:r>
          </a:p>
          <a:p>
            <a:pPr marL="0" indent="0">
              <a:buNone/>
            </a:pP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702040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dirty="0">
                <a:latin typeface="Times New Roman" pitchFamily="18" charset="0"/>
                <a:cs typeface="Times New Roman" pitchFamily="18" charset="0"/>
              </a:rPr>
              <a:t>Design of Helical Antenna</a:t>
            </a:r>
            <a:br>
              <a:rPr lang="en-IN" sz="3600" dirty="0">
                <a:latin typeface="Times New Roman" pitchFamily="18" charset="0"/>
                <a:cs typeface="Times New Roman" pitchFamily="18" charset="0"/>
              </a:rPr>
            </a:b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lgn="just">
              <a:buNone/>
            </a:pPr>
            <a:r>
              <a:rPr lang="en-US" sz="2000" dirty="0">
                <a:latin typeface="Times New Roman" pitchFamily="18" charset="0"/>
                <a:cs typeface="Times New Roman" pitchFamily="18" charset="0"/>
              </a:rPr>
              <a:t>The construction of the helical antenna is shown below. This antenna can be designed with a conducting wire-like thick copper wire wounded in helical form &amp; it is connected to the ground plate through a feeder line. This antenna is very simple to design and it provides waves that are polarized circularly, so it is used in different communication-based applications where satellite relays are involved</a:t>
            </a:r>
            <a:r>
              <a:rPr lang="en-US" sz="2400" dirty="0" smtClean="0">
                <a:latin typeface="Times New Roman" pitchFamily="18" charset="0"/>
                <a:cs typeface="Times New Roman" pitchFamily="18" charset="0"/>
              </a:rPr>
              <a:t>.</a:t>
            </a:r>
          </a:p>
          <a:p>
            <a:pPr marL="0" indent="0">
              <a:buNone/>
            </a:pPr>
            <a:endParaRPr lang="en-IN" sz="24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3673610"/>
            <a:ext cx="5049559" cy="2779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06094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31640" y="548680"/>
            <a:ext cx="7355160" cy="5577483"/>
          </a:xfrm>
        </p:spPr>
        <p:txBody>
          <a:bodyPr>
            <a:normAutofit/>
          </a:bodyPr>
          <a:lstStyle/>
          <a:p>
            <a:r>
              <a:rPr lang="en-US" sz="2400" b="1" dirty="0"/>
              <a:t>Pitch angle</a:t>
            </a:r>
            <a:r>
              <a:rPr lang="en-US" sz="2400" dirty="0"/>
              <a:t> is the angle between a line tangent to the helix wire and plane normal to the helix axis</a:t>
            </a:r>
            <a:r>
              <a:rPr lang="en-US" sz="2400" dirty="0" smtClean="0"/>
              <a:t>.</a:t>
            </a:r>
          </a:p>
          <a:p>
            <a:pPr marL="0" indent="0">
              <a:buNone/>
            </a:pPr>
            <a:r>
              <a:rPr lang="en-IN" sz="2400" dirty="0" smtClean="0"/>
              <a:t/>
            </a:r>
            <a:br>
              <a:rPr lang="en-IN" sz="2400" dirty="0" smtClean="0"/>
            </a:br>
            <a:endParaRPr lang="en-IN" sz="2400" dirty="0" smtClean="0"/>
          </a:p>
          <a:p>
            <a:pPr marL="82296" indent="0">
              <a:buNone/>
            </a:pPr>
            <a:endParaRPr lang="en-IN" sz="2400" dirty="0"/>
          </a:p>
          <a:p>
            <a:pPr marL="0" indent="0">
              <a:buNone/>
            </a:pPr>
            <a:r>
              <a:rPr lang="en-IN" sz="2400" dirty="0"/>
              <a:t> </a:t>
            </a:r>
            <a:r>
              <a:rPr lang="en-IN" sz="2400" dirty="0" smtClean="0"/>
              <a:t>    </a:t>
            </a:r>
            <a:r>
              <a:rPr lang="en-US" sz="2400" dirty="0" smtClean="0"/>
              <a:t>where,</a:t>
            </a:r>
            <a:endParaRPr lang="en-US" sz="2400" dirty="0"/>
          </a:p>
          <a:p>
            <a:r>
              <a:rPr lang="en-US" sz="2400" b="1" dirty="0"/>
              <a:t>D</a:t>
            </a:r>
            <a:r>
              <a:rPr lang="en-US" sz="2400" dirty="0"/>
              <a:t> is the </a:t>
            </a:r>
            <a:r>
              <a:rPr lang="en-US" sz="2400" b="1" dirty="0"/>
              <a:t>diameter</a:t>
            </a:r>
            <a:r>
              <a:rPr lang="en-US" sz="2400" dirty="0"/>
              <a:t> of helix.</a:t>
            </a:r>
          </a:p>
          <a:p>
            <a:r>
              <a:rPr lang="en-US" sz="2400" b="1" dirty="0"/>
              <a:t>S</a:t>
            </a:r>
            <a:r>
              <a:rPr lang="en-US" sz="2400" dirty="0"/>
              <a:t> is the </a:t>
            </a:r>
            <a:r>
              <a:rPr lang="en-US" sz="2400" b="1" dirty="0"/>
              <a:t>turn spacing</a:t>
            </a:r>
            <a:r>
              <a:rPr lang="en-US" sz="2400" dirty="0"/>
              <a:t> (</a:t>
            </a:r>
            <a:r>
              <a:rPr lang="en-US" sz="2400" dirty="0" err="1"/>
              <a:t>centre</a:t>
            </a:r>
            <a:r>
              <a:rPr lang="en-US" sz="2400" dirty="0"/>
              <a:t> to </a:t>
            </a:r>
            <a:r>
              <a:rPr lang="en-US" sz="2400" dirty="0" err="1"/>
              <a:t>centre</a:t>
            </a:r>
            <a:r>
              <a:rPr lang="en-US" sz="2400" dirty="0"/>
              <a:t>).</a:t>
            </a:r>
          </a:p>
          <a:p>
            <a:r>
              <a:rPr lang="en-US" sz="2400" b="1" dirty="0"/>
              <a:t>α</a:t>
            </a:r>
            <a:r>
              <a:rPr lang="en-US" sz="2400" dirty="0"/>
              <a:t> is the </a:t>
            </a:r>
            <a:r>
              <a:rPr lang="en-US" sz="2400" b="1" dirty="0"/>
              <a:t>pitch angle</a:t>
            </a:r>
            <a:r>
              <a:rPr lang="en-US" sz="2400" dirty="0"/>
              <a:t>.</a:t>
            </a:r>
          </a:p>
          <a:p>
            <a:pPr marL="0" indent="0">
              <a:buNone/>
            </a:pPr>
            <a:endParaRPr lang="en-US" sz="2400" dirty="0">
              <a:latin typeface="Times New Roman" pitchFamily="18" charset="0"/>
              <a:cs typeface="Times New Roman" pitchFamily="18" charset="0"/>
            </a:endParaRPr>
          </a:p>
          <a:p>
            <a:pPr marL="0" indent="0" fontAlgn="base">
              <a:buNone/>
            </a:pPr>
            <a:endParaRPr lang="en-US" sz="2400" dirty="0">
              <a:latin typeface="Times New Roman" pitchFamily="18" charset="0"/>
              <a:cs typeface="Times New Roman" pitchFamily="18" charset="0"/>
            </a:endParaRPr>
          </a:p>
          <a:p>
            <a:pPr marL="0" indent="0">
              <a:buNone/>
            </a:pPr>
            <a:endParaRPr lang="en-IN" sz="2400" dirty="0">
              <a:latin typeface="Times New Roman" pitchFamily="18" charset="0"/>
              <a:cs typeface="Times New Roman" pitchFamily="18"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888" y="1700808"/>
            <a:ext cx="18669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40741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Working</a:t>
            </a: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lgn="just">
              <a:buNone/>
            </a:pPr>
            <a:r>
              <a:rPr lang="en-US" sz="2400" dirty="0">
                <a:latin typeface="Times New Roman" pitchFamily="18" charset="0"/>
                <a:cs typeface="Times New Roman" pitchFamily="18" charset="0"/>
              </a:rPr>
              <a:t>Once a conductive wire in an antenna is excited through a coaxial cable otherwise two-wire transmission line then-current supplies throughout the conducting wire. So, this causes the field lines generation &amp; emission of radiations. It is important to know that a helical antenna may emit in different modes, so modes of operation of the helical antenna are normal mode and axial </a:t>
            </a:r>
            <a:r>
              <a:rPr lang="en-US" sz="2400" dirty="0" smtClean="0">
                <a:latin typeface="Times New Roman" pitchFamily="18" charset="0"/>
                <a:cs typeface="Times New Roman" pitchFamily="18" charset="0"/>
              </a:rPr>
              <a:t>mode.</a:t>
            </a:r>
          </a:p>
          <a:p>
            <a:pPr marL="0" indent="0">
              <a:buNone/>
            </a:pP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28214124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7624" y="476672"/>
            <a:ext cx="7499176" cy="5649491"/>
          </a:xfrm>
        </p:spPr>
        <p:txBody>
          <a:bodyPr>
            <a:noAutofit/>
          </a:bodyPr>
          <a:lstStyle/>
          <a:p>
            <a:pPr marL="0" indent="0" fontAlgn="base">
              <a:buNone/>
            </a:pPr>
            <a:r>
              <a:rPr lang="en-US" sz="2400" b="1" dirty="0">
                <a:latin typeface="Times New Roman" pitchFamily="18" charset="0"/>
                <a:cs typeface="Times New Roman" pitchFamily="18" charset="0"/>
              </a:rPr>
              <a:t>Normal </a:t>
            </a:r>
            <a:r>
              <a:rPr lang="en-US" sz="2400" b="1" dirty="0" smtClean="0">
                <a:latin typeface="Times New Roman" pitchFamily="18" charset="0"/>
                <a:cs typeface="Times New Roman" pitchFamily="18" charset="0"/>
              </a:rPr>
              <a:t>Mode</a:t>
            </a:r>
          </a:p>
          <a:p>
            <a:pPr fontAlgn="base"/>
            <a:endParaRPr lang="en-US" sz="2400" b="1" dirty="0">
              <a:latin typeface="Times New Roman" pitchFamily="18" charset="0"/>
              <a:cs typeface="Times New Roman" pitchFamily="18" charset="0"/>
            </a:endParaRPr>
          </a:p>
          <a:p>
            <a:pPr fontAlgn="base"/>
            <a:endParaRPr lang="en-US" sz="2400" b="1" dirty="0">
              <a:latin typeface="Times New Roman" pitchFamily="18" charset="0"/>
              <a:cs typeface="Times New Roman" pitchFamily="18" charset="0"/>
            </a:endParaRPr>
          </a:p>
          <a:p>
            <a:pPr fontAlgn="base"/>
            <a:endParaRPr lang="en-US" sz="2400" dirty="0" smtClean="0">
              <a:latin typeface="Times New Roman" pitchFamily="18" charset="0"/>
              <a:cs typeface="Times New Roman" pitchFamily="18" charset="0"/>
            </a:endParaRPr>
          </a:p>
          <a:p>
            <a:pPr marL="0" indent="0" fontAlgn="base">
              <a:buNone/>
            </a:pPr>
            <a:endParaRPr lang="en-US" sz="2400" dirty="0">
              <a:latin typeface="Times New Roman" pitchFamily="18" charset="0"/>
              <a:cs typeface="Times New Roman" pitchFamily="18" charset="0"/>
            </a:endParaRPr>
          </a:p>
          <a:p>
            <a:pPr fontAlgn="base"/>
            <a:endParaRPr lang="en-US" sz="2400" dirty="0" smtClean="0">
              <a:latin typeface="Times New Roman" pitchFamily="18" charset="0"/>
              <a:cs typeface="Times New Roman" pitchFamily="18" charset="0"/>
            </a:endParaRPr>
          </a:p>
          <a:p>
            <a:pPr algn="just" fontAlgn="base"/>
            <a:r>
              <a:rPr lang="en-US" sz="2000" dirty="0" smtClean="0">
                <a:latin typeface="Times New Roman" pitchFamily="18" charset="0"/>
                <a:cs typeface="Times New Roman" pitchFamily="18" charset="0"/>
              </a:rPr>
              <a:t>In </a:t>
            </a:r>
            <a:r>
              <a:rPr lang="en-US" sz="2000" dirty="0">
                <a:latin typeface="Times New Roman" pitchFamily="18" charset="0"/>
                <a:cs typeface="Times New Roman" pitchFamily="18" charset="0"/>
              </a:rPr>
              <a:t>this type mode, both the pitch &amp; the diameter of the helix antenna are tiny as compared to the wavelength. So, its operation is analogous to an electrical short dipole or monopole. In radiation of normal mode, the field of radiation is normal to the helix axis so, radiated signals are polarized circularly.</a:t>
            </a:r>
          </a:p>
          <a:p>
            <a:pPr algn="just" fontAlgn="base"/>
            <a:r>
              <a:rPr lang="en-US" sz="2000" dirty="0">
                <a:latin typeface="Times New Roman" pitchFamily="18" charset="0"/>
                <a:cs typeface="Times New Roman" pitchFamily="18" charset="0"/>
              </a:rPr>
              <a:t>This mode has low efficiency &amp; narrow bandwidth, so used mainly for compact antennas for portable, two-way mobile radios &amp; UHF TV broadcasting antennas. The helical antenna’s radiation pattern is a combination of both the loop &amp; short dipole antennas.</a:t>
            </a:r>
          </a:p>
          <a:p>
            <a:pPr marL="0" indent="0">
              <a:buNone/>
            </a:pPr>
            <a:endParaRPr lang="en-IN" sz="2000"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0510" y="908720"/>
            <a:ext cx="1581150" cy="200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63469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15616" y="692696"/>
            <a:ext cx="7571184" cy="5361459"/>
          </a:xfrm>
        </p:spPr>
        <p:txBody>
          <a:bodyPr>
            <a:normAutofit lnSpcReduction="10000"/>
          </a:bodyPr>
          <a:lstStyle/>
          <a:p>
            <a:pPr marL="0" indent="0" fontAlgn="base">
              <a:buNone/>
            </a:pPr>
            <a:r>
              <a:rPr lang="en-US" sz="2400" b="1" dirty="0" smtClean="0">
                <a:latin typeface="Times New Roman" pitchFamily="18" charset="0"/>
                <a:cs typeface="Times New Roman" pitchFamily="18" charset="0"/>
              </a:rPr>
              <a:t>Axial Mode</a:t>
            </a:r>
          </a:p>
          <a:p>
            <a:pPr fontAlgn="base"/>
            <a:endParaRPr lang="en-US" sz="2400" b="1" dirty="0">
              <a:latin typeface="Times New Roman" pitchFamily="18" charset="0"/>
              <a:cs typeface="Times New Roman" pitchFamily="18" charset="0"/>
            </a:endParaRPr>
          </a:p>
          <a:p>
            <a:pPr marL="0" indent="0" fontAlgn="base">
              <a:buNone/>
            </a:pPr>
            <a:endParaRPr lang="en-US" sz="2400" dirty="0" smtClean="0">
              <a:latin typeface="Times New Roman" pitchFamily="18" charset="0"/>
              <a:cs typeface="Times New Roman" pitchFamily="18" charset="0"/>
            </a:endParaRPr>
          </a:p>
          <a:p>
            <a:pPr fontAlgn="base"/>
            <a:endParaRPr lang="en-US" sz="2400" dirty="0">
              <a:latin typeface="Times New Roman" pitchFamily="18" charset="0"/>
              <a:cs typeface="Times New Roman" pitchFamily="18" charset="0"/>
            </a:endParaRPr>
          </a:p>
          <a:p>
            <a:pPr marL="0" indent="0" algn="just" fontAlgn="base">
              <a:buNone/>
            </a:pPr>
            <a:r>
              <a:rPr lang="en-US" sz="2400" dirty="0" smtClean="0">
                <a:latin typeface="Times New Roman" pitchFamily="18" charset="0"/>
                <a:cs typeface="Times New Roman" pitchFamily="18" charset="0"/>
              </a:rPr>
              <a:t>In </a:t>
            </a:r>
            <a:r>
              <a:rPr lang="en-US" sz="2400" dirty="0">
                <a:latin typeface="Times New Roman" pitchFamily="18" charset="0"/>
                <a:cs typeface="Times New Roman" pitchFamily="18" charset="0"/>
              </a:rPr>
              <a:t>this mode, both the pitch and diameter of the helix antenna are similar to the wavelength, so it works like a directional antenna. Not like the normal mode, there is no simple solution available to decide the radiation properties in this axial mode. Thus for this mode, experimentally determined analytical &amp; numerical methods are used to conclude these factors. This mode is frequently used through earth-based stations within satellite communications systems. This mode of operation is used more practically.</a:t>
            </a:r>
          </a:p>
          <a:p>
            <a:pPr marL="0" indent="0">
              <a:buNone/>
            </a:pPr>
            <a:endParaRPr lang="en-IN" sz="2400" dirty="0">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0096" y="1052736"/>
            <a:ext cx="215265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1885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dirty="0">
                <a:latin typeface="Times New Roman" pitchFamily="18" charset="0"/>
                <a:cs typeface="Times New Roman" pitchFamily="18" charset="0"/>
              </a:rPr>
              <a:t>Advantages</a:t>
            </a:r>
            <a:br>
              <a:rPr lang="en-IN" sz="3600" dirty="0">
                <a:latin typeface="Times New Roman" pitchFamily="18" charset="0"/>
                <a:cs typeface="Times New Roman" pitchFamily="18" charset="0"/>
              </a:rPr>
            </a:b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fontAlgn="base"/>
            <a:r>
              <a:rPr lang="en-US" sz="2400" dirty="0">
                <a:latin typeface="Times New Roman" pitchFamily="18" charset="0"/>
                <a:cs typeface="Times New Roman" pitchFamily="18" charset="0"/>
              </a:rPr>
              <a:t>Design is simple.</a:t>
            </a:r>
          </a:p>
          <a:p>
            <a:pPr fontAlgn="base"/>
            <a:r>
              <a:rPr lang="en-US" sz="2400" dirty="0">
                <a:latin typeface="Times New Roman" pitchFamily="18" charset="0"/>
                <a:cs typeface="Times New Roman" pitchFamily="18" charset="0"/>
              </a:rPr>
              <a:t>Directivity is high.</a:t>
            </a:r>
          </a:p>
          <a:p>
            <a:pPr fontAlgn="base"/>
            <a:r>
              <a:rPr lang="en-US" sz="2400" dirty="0">
                <a:latin typeface="Times New Roman" pitchFamily="18" charset="0"/>
                <a:cs typeface="Times New Roman" pitchFamily="18" charset="0"/>
              </a:rPr>
              <a:t>Wide bandwidth.</a:t>
            </a:r>
          </a:p>
          <a:p>
            <a:pPr fontAlgn="base"/>
            <a:r>
              <a:rPr lang="en-US" sz="2400" dirty="0">
                <a:latin typeface="Times New Roman" pitchFamily="18" charset="0"/>
                <a:cs typeface="Times New Roman" pitchFamily="18" charset="0"/>
              </a:rPr>
              <a:t>Circular polarization can be obtained.</a:t>
            </a:r>
          </a:p>
          <a:p>
            <a:pPr fontAlgn="base"/>
            <a:r>
              <a:rPr lang="en-US" sz="2400" dirty="0">
                <a:latin typeface="Times New Roman" pitchFamily="18" charset="0"/>
                <a:cs typeface="Times New Roman" pitchFamily="18" charset="0"/>
              </a:rPr>
              <a:t>It can be used at VHF and HF bands.</a:t>
            </a:r>
          </a:p>
          <a:p>
            <a:pPr fontAlgn="base"/>
            <a:r>
              <a:rPr lang="en-US" sz="2400" dirty="0">
                <a:latin typeface="Times New Roman" pitchFamily="18" charset="0"/>
                <a:cs typeface="Times New Roman" pitchFamily="18" charset="0"/>
              </a:rPr>
              <a:t>Robust construction.</a:t>
            </a:r>
          </a:p>
          <a:p>
            <a:pPr fontAlgn="base"/>
            <a:r>
              <a:rPr lang="en-US" sz="2400" dirty="0">
                <a:latin typeface="Times New Roman" pitchFamily="18" charset="0"/>
                <a:cs typeface="Times New Roman" pitchFamily="18" charset="0"/>
              </a:rPr>
              <a:t>When it uses a circularly polarized pattern then it is acceptable through both vertical &amp; horizontal polarized antenna types.</a:t>
            </a:r>
          </a:p>
          <a:p>
            <a:pPr marL="0" indent="0">
              <a:buNone/>
            </a:pPr>
            <a:endParaRPr lang="en-IN" dirty="0"/>
          </a:p>
        </p:txBody>
      </p:sp>
    </p:spTree>
    <p:extLst>
      <p:ext uri="{BB962C8B-B14F-4D97-AF65-F5344CB8AC3E}">
        <p14:creationId xmlns:p14="http://schemas.microsoft.com/office/powerpoint/2010/main" val="11043168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dirty="0">
                <a:latin typeface="Times New Roman" pitchFamily="18" charset="0"/>
                <a:cs typeface="Times New Roman" pitchFamily="18" charset="0"/>
              </a:rPr>
              <a:t>Disadvantages</a:t>
            </a:r>
            <a:br>
              <a:rPr lang="en-IN" sz="3600" dirty="0">
                <a:latin typeface="Times New Roman" pitchFamily="18" charset="0"/>
                <a:cs typeface="Times New Roman" pitchFamily="18" charset="0"/>
              </a:rPr>
            </a:b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fontAlgn="base"/>
            <a:r>
              <a:rPr lang="en-US" sz="2400" dirty="0">
                <a:latin typeface="Times New Roman" pitchFamily="18" charset="0"/>
                <a:cs typeface="Times New Roman" pitchFamily="18" charset="0"/>
              </a:rPr>
              <a:t>Its size is larger so occupies more space.</a:t>
            </a:r>
          </a:p>
          <a:p>
            <a:pPr fontAlgn="base"/>
            <a:r>
              <a:rPr lang="en-US" sz="2400" dirty="0">
                <a:latin typeface="Times New Roman" pitchFamily="18" charset="0"/>
                <a:cs typeface="Times New Roman" pitchFamily="18" charset="0"/>
              </a:rPr>
              <a:t>The efficiency mainly depends on the number of turns so, because of the number of turns, the efficiency will be decreased.</a:t>
            </a:r>
          </a:p>
          <a:p>
            <a:pPr fontAlgn="base"/>
            <a:r>
              <a:rPr lang="en-US" sz="2400" dirty="0">
                <a:latin typeface="Times New Roman" pitchFamily="18" charset="0"/>
                <a:cs typeface="Times New Roman" pitchFamily="18" charset="0"/>
              </a:rPr>
              <a:t>High cost.</a:t>
            </a:r>
          </a:p>
          <a:p>
            <a:endParaRPr lang="en-IN" dirty="0"/>
          </a:p>
        </p:txBody>
      </p:sp>
    </p:spTree>
    <p:extLst>
      <p:ext uri="{BB962C8B-B14F-4D97-AF65-F5344CB8AC3E}">
        <p14:creationId xmlns:p14="http://schemas.microsoft.com/office/powerpoint/2010/main" val="30260810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616" y="332656"/>
            <a:ext cx="8229600" cy="576064"/>
          </a:xfrm>
        </p:spPr>
        <p:txBody>
          <a:bodyPr>
            <a:noAutofit/>
          </a:bodyPr>
          <a:lstStyle/>
          <a:p>
            <a:r>
              <a:rPr lang="en-IN" sz="3600" dirty="0">
                <a:latin typeface="Times New Roman" pitchFamily="18" charset="0"/>
                <a:cs typeface="Times New Roman" pitchFamily="18" charset="0"/>
              </a:rPr>
              <a:t>Applications</a:t>
            </a:r>
            <a:br>
              <a:rPr lang="en-IN" sz="3600" dirty="0">
                <a:latin typeface="Times New Roman" pitchFamily="18" charset="0"/>
                <a:cs typeface="Times New Roman" pitchFamily="18" charset="0"/>
              </a:rPr>
            </a:b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a:xfrm>
            <a:off x="1115616" y="1124744"/>
            <a:ext cx="7797552" cy="5001419"/>
          </a:xfrm>
        </p:spPr>
        <p:txBody>
          <a:bodyPr>
            <a:normAutofit fontScale="40000" lnSpcReduction="20000"/>
          </a:bodyPr>
          <a:lstStyle/>
          <a:p>
            <a:pPr fontAlgn="base"/>
            <a:r>
              <a:rPr lang="en-US" sz="5100" dirty="0">
                <a:latin typeface="Times New Roman" pitchFamily="18" charset="0"/>
                <a:cs typeface="Times New Roman" pitchFamily="18" charset="0"/>
              </a:rPr>
              <a:t>These antennas are applicable in satellite &amp; space probe communications because of their circular polarization of the transmitted electromagnetic waves &amp; maximum directivity.</a:t>
            </a:r>
          </a:p>
          <a:p>
            <a:pPr fontAlgn="base"/>
            <a:r>
              <a:rPr lang="en-US" sz="5100" dirty="0">
                <a:latin typeface="Times New Roman" pitchFamily="18" charset="0"/>
                <a:cs typeface="Times New Roman" pitchFamily="18" charset="0"/>
              </a:rPr>
              <a:t>A single or array of helical antennas are used for transmitting &amp; receiving VHF signals.</a:t>
            </a:r>
          </a:p>
          <a:p>
            <a:pPr fontAlgn="base"/>
            <a:r>
              <a:rPr lang="en-US" sz="5100" dirty="0">
                <a:latin typeface="Times New Roman" pitchFamily="18" charset="0"/>
                <a:cs typeface="Times New Roman" pitchFamily="18" charset="0"/>
              </a:rPr>
              <a:t>Used for satellites at Earth stations.</a:t>
            </a:r>
          </a:p>
          <a:p>
            <a:pPr fontAlgn="base"/>
            <a:r>
              <a:rPr lang="en-US" sz="5100" dirty="0">
                <a:latin typeface="Times New Roman" pitchFamily="18" charset="0"/>
                <a:cs typeface="Times New Roman" pitchFamily="18" charset="0"/>
              </a:rPr>
              <a:t>Used for telemetry links through ballistic missiles.</a:t>
            </a:r>
          </a:p>
          <a:p>
            <a:pPr fontAlgn="base"/>
            <a:r>
              <a:rPr lang="en-US" sz="5100" dirty="0">
                <a:latin typeface="Times New Roman" pitchFamily="18" charset="0"/>
                <a:cs typeface="Times New Roman" pitchFamily="18" charset="0"/>
              </a:rPr>
              <a:t>Communication can be established between the moon &amp; the earth.</a:t>
            </a:r>
          </a:p>
          <a:p>
            <a:pPr fontAlgn="base"/>
            <a:r>
              <a:rPr lang="en-US" sz="5100" dirty="0">
                <a:latin typeface="Times New Roman" pitchFamily="18" charset="0"/>
                <a:cs typeface="Times New Roman" pitchFamily="18" charset="0"/>
              </a:rPr>
              <a:t>Helical antennas are used in many satellites like data relay and weather.</a:t>
            </a:r>
          </a:p>
          <a:p>
            <a:pPr fontAlgn="base"/>
            <a:r>
              <a:rPr lang="en-US" sz="5100" dirty="0">
                <a:latin typeface="Times New Roman" pitchFamily="18" charset="0"/>
                <a:cs typeface="Times New Roman" pitchFamily="18" charset="0"/>
              </a:rPr>
              <a:t>This antenna is used for transmitting &amp; receiving VHF waves, especially for </a:t>
            </a:r>
            <a:r>
              <a:rPr lang="en-US" sz="5100" dirty="0" err="1">
                <a:latin typeface="Times New Roman" pitchFamily="18" charset="0"/>
                <a:cs typeface="Times New Roman" pitchFamily="18" charset="0"/>
              </a:rPr>
              <a:t>ionospheric</a:t>
            </a:r>
            <a:r>
              <a:rPr lang="en-US" sz="5100" dirty="0">
                <a:latin typeface="Times New Roman" pitchFamily="18" charset="0"/>
                <a:cs typeface="Times New Roman" pitchFamily="18" charset="0"/>
              </a:rPr>
              <a:t> propagation.</a:t>
            </a:r>
          </a:p>
          <a:p>
            <a:pPr fontAlgn="base"/>
            <a:r>
              <a:rPr lang="en-US" sz="5100" dirty="0">
                <a:latin typeface="Times New Roman" pitchFamily="18" charset="0"/>
                <a:cs typeface="Times New Roman" pitchFamily="18" charset="0"/>
              </a:rPr>
              <a:t>It is used for different communications like radio astronomy, space telemetry, satellite, and space.</a:t>
            </a: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14708777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72</TotalTime>
  <Words>666</Words>
  <Application>Microsoft Office PowerPoint</Application>
  <PresentationFormat>On-screen Show (4:3)</PresentationFormat>
  <Paragraphs>65</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Solstice</vt:lpstr>
      <vt:lpstr>  Helical Antenna</vt:lpstr>
      <vt:lpstr>Introduction</vt:lpstr>
      <vt:lpstr>Features</vt:lpstr>
      <vt:lpstr>Design of Helical Antenna </vt:lpstr>
      <vt:lpstr>PowerPoint Presentation</vt:lpstr>
      <vt:lpstr>Working</vt:lpstr>
      <vt:lpstr>PowerPoint Presentation</vt:lpstr>
      <vt:lpstr>PowerPoint Presentation</vt:lpstr>
      <vt:lpstr>Advantages </vt:lpstr>
      <vt:lpstr>Disadvantages </vt:lpstr>
      <vt:lpstr>Applications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Helical Antenna</dc:title>
  <dc:creator>DELL</dc:creator>
  <cp:lastModifiedBy>DELL</cp:lastModifiedBy>
  <cp:revision>8</cp:revision>
  <dcterms:created xsi:type="dcterms:W3CDTF">2023-01-03T05:50:26Z</dcterms:created>
  <dcterms:modified xsi:type="dcterms:W3CDTF">2025-07-20T10:21:18Z</dcterms:modified>
</cp:coreProperties>
</file>