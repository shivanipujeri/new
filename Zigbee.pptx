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6" r:id="rId6"/>
    <p:sldId id="267" r:id="rId7"/>
    <p:sldId id="268" r:id="rId8"/>
    <p:sldId id="261" r:id="rId9"/>
    <p:sldId id="262" r:id="rId10"/>
    <p:sldId id="263" r:id="rId11"/>
    <p:sldId id="264"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84FB9DCE-5462-4C84-BDBB-B175AFE89F0B}" type="slidenum">
              <a:rPr lang="en-IN" smtClean="0"/>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4FB9DCE-5462-4C84-BDBB-B175AFE89F0B}" type="slidenum">
              <a:rPr lang="en-IN" smtClean="0"/>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84FB9DCE-5462-4C84-BDBB-B175AFE89F0B}" type="slidenum">
              <a:rPr lang="en-IN" smtClean="0"/>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84FB9DCE-5462-4C84-BDBB-B175AFE89F0B}" type="slidenum">
              <a:rPr lang="en-IN" smtClean="0"/>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375DB4F-0F97-4359-8D70-F407E32B7516}" type="datetimeFigureOut">
              <a:rPr lang="en-IN" smtClean="0"/>
              <a:t>14-01-2026</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4FB9DCE-5462-4C84-BDBB-B175AFE89F0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E375DB4F-0F97-4359-8D70-F407E32B7516}" type="datetimeFigureOut">
              <a:rPr lang="en-IN" smtClean="0"/>
              <a:t>14-01-2026</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4FB9DCE-5462-4C84-BDBB-B175AFE89F0B}" type="slidenum">
              <a:rPr lang="en-IN" smtClean="0"/>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8641"/>
            <a:ext cx="7772400" cy="1152127"/>
          </a:xfrm>
        </p:spPr>
        <p:txBody>
          <a:bodyPr>
            <a:normAutofit/>
          </a:bodyPr>
          <a:lstStyle/>
          <a:p>
            <a:pPr algn="ctr"/>
            <a:r>
              <a:rPr lang="en-US" sz="4000" dirty="0" smtClean="0">
                <a:latin typeface="Times New Roman" pitchFamily="18" charset="0"/>
                <a:cs typeface="Times New Roman" pitchFamily="18" charset="0"/>
              </a:rPr>
              <a:t>Zigbee</a:t>
            </a:r>
            <a:endParaRPr lang="en-IN" sz="4000" dirty="0">
              <a:latin typeface="Times New Roman" pitchFamily="18" charset="0"/>
              <a:cs typeface="Times New Roman" pitchFamily="18" charset="0"/>
            </a:endParaRP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0640" y="1700808"/>
            <a:ext cx="4229467" cy="3635055"/>
          </a:xfrm>
          <a:prstGeom prst="rect">
            <a:avLst/>
          </a:prstGeom>
        </p:spPr>
      </p:pic>
    </p:spTree>
    <p:extLst>
      <p:ext uri="{BB962C8B-B14F-4D97-AF65-F5344CB8AC3E}">
        <p14:creationId xmlns:p14="http://schemas.microsoft.com/office/powerpoint/2010/main" val="4080573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Introduction</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pPr marL="457200" indent="-457200">
              <a:buFont typeface="Wingdings" pitchFamily="2" charset="2"/>
              <a:buChar char="Ø"/>
            </a:pPr>
            <a:r>
              <a:rPr lang="en-US" dirty="0" err="1" smtClean="0">
                <a:latin typeface="Times New Roman" pitchFamily="18" charset="0"/>
                <a:cs typeface="Times New Roman" pitchFamily="18" charset="0"/>
              </a:rPr>
              <a:t>Zigbee</a:t>
            </a:r>
            <a:r>
              <a:rPr lang="en-US" dirty="0" smtClean="0">
                <a:latin typeface="Times New Roman" pitchFamily="18" charset="0"/>
                <a:cs typeface="Times New Roman" pitchFamily="18" charset="0"/>
              </a:rPr>
              <a:t> is a wireless technology developed as an open global standard to address the unique needs of low cost, low-power wireless </a:t>
            </a:r>
            <a:r>
              <a:rPr lang="en-US" dirty="0" err="1" smtClean="0">
                <a:latin typeface="Times New Roman" pitchFamily="18" charset="0"/>
                <a:cs typeface="Times New Roman" pitchFamily="18" charset="0"/>
              </a:rPr>
              <a:t>IoT</a:t>
            </a:r>
            <a:r>
              <a:rPr lang="en-US" dirty="0" smtClean="0">
                <a:latin typeface="Times New Roman" pitchFamily="18" charset="0"/>
                <a:cs typeface="Times New Roman" pitchFamily="18" charset="0"/>
              </a:rPr>
              <a:t> networks. </a:t>
            </a:r>
          </a:p>
          <a:p>
            <a:pPr marL="457200" indent="-457200">
              <a:buFont typeface="Wingdings" pitchFamily="2" charset="2"/>
              <a:buChar char="Ø"/>
            </a:pPr>
            <a:r>
              <a:rPr lang="en-US" dirty="0" smtClean="0">
                <a:latin typeface="Times New Roman" pitchFamily="18" charset="0"/>
                <a:cs typeface="Times New Roman" pitchFamily="18" charset="0"/>
              </a:rPr>
              <a:t>The Zigbee standard operates on the IEEE 802.15.4 physical radio specification </a:t>
            </a:r>
          </a:p>
          <a:p>
            <a:pPr marL="457200" indent="-457200">
              <a:buFont typeface="Wingdings" pitchFamily="2" charset="2"/>
              <a:buChar char="Ø"/>
            </a:pPr>
            <a:r>
              <a:rPr lang="en-US" dirty="0" smtClean="0">
                <a:latin typeface="Times New Roman" pitchFamily="18" charset="0"/>
                <a:cs typeface="Times New Roman" pitchFamily="18" charset="0"/>
              </a:rPr>
              <a:t>It operates </a:t>
            </a:r>
            <a:r>
              <a:rPr lang="en-US" dirty="0" smtClean="0">
                <a:latin typeface="Times New Roman" pitchFamily="18" charset="0"/>
                <a:cs typeface="Times New Roman" pitchFamily="18" charset="0"/>
              </a:rPr>
              <a:t>in unlicensed bands including 2.4 GHz, 900 MHz and 868 MHz</a:t>
            </a:r>
          </a:p>
          <a:p>
            <a:pPr marL="457200" indent="-457200">
              <a:buFont typeface="Wingdings" pitchFamily="2" charset="2"/>
              <a:buChar char="Ø"/>
            </a:pPr>
            <a:r>
              <a:rPr lang="en-US" dirty="0" smtClean="0">
                <a:latin typeface="Times New Roman" pitchFamily="18" charset="0"/>
                <a:cs typeface="Times New Roman" pitchFamily="18" charset="0"/>
              </a:rPr>
              <a:t>The specification is a packet-based radio protocol intended for low-cost, battery-operated devices.</a:t>
            </a:r>
          </a:p>
          <a:p>
            <a:pPr marL="457200" indent="-457200">
              <a:buFont typeface="Wingdings" pitchFamily="2" charset="2"/>
              <a:buChar char="Ø"/>
            </a:pPr>
            <a:r>
              <a:rPr lang="en-US" smtClean="0">
                <a:latin typeface="Times New Roman" pitchFamily="18" charset="0"/>
                <a:cs typeface="Times New Roman" pitchFamily="18" charset="0"/>
              </a:rPr>
              <a:t>The </a:t>
            </a:r>
            <a:r>
              <a:rPr lang="en-US" dirty="0" smtClean="0">
                <a:latin typeface="Times New Roman" pitchFamily="18" charset="0"/>
                <a:cs typeface="Times New Roman" pitchFamily="18" charset="0"/>
              </a:rPr>
              <a:t>protocol allows devices to communicate in a variety of network topologies and can have battery life lasting several years.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672254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Features</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latin typeface="Times New Roman" pitchFamily="18" charset="0"/>
                <a:cs typeface="Times New Roman" pitchFamily="18" charset="0"/>
              </a:rPr>
              <a:t>➢ Support for multiple network topologies such as point-to-point, point-to-multipoint and mesh networks </a:t>
            </a:r>
          </a:p>
          <a:p>
            <a:pPr marL="0" indent="0">
              <a:buNone/>
            </a:pPr>
            <a:r>
              <a:rPr lang="en-IN" dirty="0" smtClean="0">
                <a:latin typeface="Times New Roman" pitchFamily="18" charset="0"/>
                <a:cs typeface="Times New Roman" pitchFamily="18" charset="0"/>
              </a:rPr>
              <a:t>➢ Low duty cycle – provides long battery life </a:t>
            </a:r>
          </a:p>
          <a:p>
            <a:pPr marL="0" indent="0">
              <a:buNone/>
            </a:pPr>
            <a:r>
              <a:rPr lang="en-IN" dirty="0" smtClean="0">
                <a:latin typeface="Times New Roman" pitchFamily="18" charset="0"/>
                <a:cs typeface="Times New Roman" pitchFamily="18" charset="0"/>
              </a:rPr>
              <a:t>➢ Low latency </a:t>
            </a:r>
          </a:p>
          <a:p>
            <a:pPr marL="0" indent="0">
              <a:buNone/>
            </a:pPr>
            <a:r>
              <a:rPr lang="en-IN" dirty="0" smtClean="0">
                <a:latin typeface="Times New Roman" pitchFamily="18" charset="0"/>
                <a:cs typeface="Times New Roman" pitchFamily="18" charset="0"/>
              </a:rPr>
              <a:t>➢ Direct Sequence Spread Spectrum (DSSS) </a:t>
            </a:r>
          </a:p>
          <a:p>
            <a:pPr marL="0" indent="0">
              <a:buNone/>
            </a:pPr>
            <a:r>
              <a:rPr lang="en-IN" dirty="0" smtClean="0">
                <a:latin typeface="Times New Roman" pitchFamily="18" charset="0"/>
                <a:cs typeface="Times New Roman" pitchFamily="18" charset="0"/>
              </a:rPr>
              <a:t>➢ Up to 65,000 nodes per network </a:t>
            </a:r>
          </a:p>
          <a:p>
            <a:pPr marL="0" indent="0">
              <a:buNone/>
            </a:pPr>
            <a:r>
              <a:rPr lang="en-IN" dirty="0" smtClean="0">
                <a:latin typeface="Times New Roman" pitchFamily="18" charset="0"/>
                <a:cs typeface="Times New Roman" pitchFamily="18" charset="0"/>
              </a:rPr>
              <a:t>➢ 128-bit AES encryption for secure data connections </a:t>
            </a:r>
          </a:p>
          <a:p>
            <a:pPr marL="0" indent="0">
              <a:buNone/>
            </a:pPr>
            <a:r>
              <a:rPr lang="en-IN" dirty="0" smtClean="0">
                <a:latin typeface="Times New Roman" pitchFamily="18" charset="0"/>
                <a:cs typeface="Times New Roman" pitchFamily="18" charset="0"/>
              </a:rPr>
              <a:t>➢ Collision avoidance, retries and acknowledgements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268759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Zigbee Architecture</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itchFamily="18" charset="0"/>
                <a:cs typeface="Times New Roman" pitchFamily="18" charset="0"/>
              </a:rPr>
              <a:t>Zigbee architecture is also called Zigbee stack. It consists of two layers as the foundation on which Zigbee is built. They are</a:t>
            </a:r>
          </a:p>
          <a:p>
            <a:pPr marL="0" indent="0">
              <a:buNone/>
            </a:pPr>
            <a:r>
              <a:rPr lang="en-US" dirty="0" smtClean="0">
                <a:latin typeface="Times New Roman" pitchFamily="18" charset="0"/>
                <a:cs typeface="Times New Roman" pitchFamily="18" charset="0"/>
              </a:rPr>
              <a:t>➢ Foundation Layers </a:t>
            </a:r>
          </a:p>
          <a:p>
            <a:pPr marL="0" indent="0">
              <a:buNone/>
            </a:pPr>
            <a:r>
              <a:rPr lang="en-US" dirty="0" smtClean="0">
                <a:latin typeface="Times New Roman" pitchFamily="18" charset="0"/>
                <a:cs typeface="Times New Roman" pitchFamily="18" charset="0"/>
              </a:rPr>
              <a:t>➢ Application and Interface Section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05958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548680"/>
            <a:ext cx="7239390" cy="562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134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786210"/>
          </a:xfrm>
        </p:spPr>
        <p:txBody>
          <a:bodyPr>
            <a:normAutofit/>
          </a:bodyPr>
          <a:lstStyle/>
          <a:p>
            <a:r>
              <a:rPr lang="en-US" dirty="0">
                <a:latin typeface="Times New Roman" pitchFamily="18" charset="0"/>
                <a:cs typeface="Times New Roman" pitchFamily="18" charset="0"/>
              </a:rPr>
              <a:t>Foundation Layers </a:t>
            </a:r>
            <a:br>
              <a:rPr lang="en-US"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p:txBody>
          <a:bodyPr>
            <a:normAutofit fontScale="70000" lnSpcReduction="20000"/>
          </a:bodyPr>
          <a:lstStyle/>
          <a:p>
            <a:pPr marL="82296" indent="0">
              <a:buNone/>
            </a:pPr>
            <a:r>
              <a:rPr lang="en-US" dirty="0"/>
              <a:t>a. </a:t>
            </a:r>
            <a:r>
              <a:rPr lang="en-US" dirty="0">
                <a:solidFill>
                  <a:srgbClr val="FF0000"/>
                </a:solidFill>
              </a:rPr>
              <a:t>Physical Layer: </a:t>
            </a:r>
            <a:r>
              <a:rPr lang="en-US" dirty="0"/>
              <a:t>The physical and electrical characteristics are defined by the Physical Layer. The functions of physical layer are: </a:t>
            </a:r>
            <a:endParaRPr lang="en-US" dirty="0" smtClean="0"/>
          </a:p>
          <a:p>
            <a:pPr marL="82296" indent="0">
              <a:buNone/>
            </a:pPr>
            <a:r>
              <a:rPr lang="en-US" dirty="0" smtClean="0"/>
              <a:t> ➢ </a:t>
            </a:r>
            <a:r>
              <a:rPr lang="en-US" dirty="0"/>
              <a:t>Activation and deactivation of transmission and reception</a:t>
            </a:r>
            <a:r>
              <a:rPr lang="en-US" dirty="0" smtClean="0"/>
              <a:t>.</a:t>
            </a:r>
          </a:p>
          <a:p>
            <a:pPr marL="82296" indent="0">
              <a:buNone/>
            </a:pPr>
            <a:r>
              <a:rPr lang="en-US" dirty="0" smtClean="0"/>
              <a:t> ➢ </a:t>
            </a:r>
            <a:r>
              <a:rPr lang="en-US" dirty="0"/>
              <a:t>Channel selection and its assessment. </a:t>
            </a:r>
            <a:endParaRPr lang="en-US" dirty="0" smtClean="0"/>
          </a:p>
          <a:p>
            <a:pPr marL="82296" indent="0">
              <a:buNone/>
            </a:pPr>
            <a:r>
              <a:rPr lang="en-US" dirty="0" smtClean="0"/>
              <a:t> ➢ </a:t>
            </a:r>
            <a:r>
              <a:rPr lang="en-US" dirty="0"/>
              <a:t>Sending and receiving of packets</a:t>
            </a:r>
            <a:r>
              <a:rPr lang="en-US"/>
              <a:t>. </a:t>
            </a:r>
            <a:endParaRPr lang="en-US" dirty="0" smtClean="0"/>
          </a:p>
          <a:p>
            <a:pPr marL="82296" indent="0">
              <a:buNone/>
            </a:pPr>
            <a:endParaRPr lang="en-US" dirty="0" smtClean="0"/>
          </a:p>
          <a:p>
            <a:pPr marL="82296" indent="0">
              <a:buNone/>
            </a:pPr>
            <a:r>
              <a:rPr lang="en-US" dirty="0" smtClean="0"/>
              <a:t>b</a:t>
            </a:r>
            <a:r>
              <a:rPr lang="en-US" dirty="0"/>
              <a:t>. </a:t>
            </a:r>
            <a:r>
              <a:rPr lang="en-US" dirty="0">
                <a:solidFill>
                  <a:srgbClr val="FF0000"/>
                </a:solidFill>
              </a:rPr>
              <a:t>MAC Layer: </a:t>
            </a:r>
            <a:r>
              <a:rPr lang="en-US" dirty="0"/>
              <a:t>This layer provides interface between the physical and network layers. It defines how multiple 802.15.4 radios operating in the same area will share the airwaves. The various functions of MAC Layers are: </a:t>
            </a:r>
            <a:endParaRPr lang="en-US" dirty="0" smtClean="0"/>
          </a:p>
          <a:p>
            <a:pPr marL="82296" indent="0">
              <a:buNone/>
            </a:pPr>
            <a:r>
              <a:rPr lang="en-US" dirty="0" smtClean="0"/>
              <a:t> ➢ </a:t>
            </a:r>
            <a:r>
              <a:rPr lang="en-US" dirty="0"/>
              <a:t>Beacon generation and management. </a:t>
            </a:r>
            <a:endParaRPr lang="en-US" dirty="0" smtClean="0"/>
          </a:p>
          <a:p>
            <a:pPr marL="82296" indent="0">
              <a:buNone/>
            </a:pPr>
            <a:r>
              <a:rPr lang="en-US" dirty="0" smtClean="0"/>
              <a:t> ➢ </a:t>
            </a:r>
            <a:r>
              <a:rPr lang="en-US" dirty="0"/>
              <a:t>CSMA-CA (Carrier Sense Multiple Access with Collision </a:t>
            </a:r>
            <a:r>
              <a:rPr lang="en-US" dirty="0" smtClean="0"/>
              <a:t>    Avoidance</a:t>
            </a:r>
            <a:r>
              <a:rPr lang="en-US" dirty="0"/>
              <a:t>) is implemented. </a:t>
            </a:r>
            <a:endParaRPr lang="en-US" dirty="0" smtClean="0"/>
          </a:p>
          <a:p>
            <a:pPr marL="82296" indent="0">
              <a:buNone/>
            </a:pPr>
            <a:r>
              <a:rPr lang="en-US" dirty="0" smtClean="0"/>
              <a:t> ➢ </a:t>
            </a:r>
            <a:r>
              <a:rPr lang="en-US" dirty="0"/>
              <a:t>Data frame validation and acknowledgement. </a:t>
            </a:r>
            <a:endParaRPr lang="en-US" dirty="0" smtClean="0"/>
          </a:p>
          <a:p>
            <a:pPr marL="82296" indent="0">
              <a:buNone/>
            </a:pPr>
            <a:r>
              <a:rPr lang="en-US" dirty="0" smtClean="0"/>
              <a:t> ➢ </a:t>
            </a:r>
            <a:r>
              <a:rPr lang="en-US" dirty="0"/>
              <a:t>Data transfer for upper layers.</a:t>
            </a:r>
            <a:endParaRPr lang="en-IN" dirty="0"/>
          </a:p>
        </p:txBody>
      </p:sp>
    </p:spTree>
    <p:extLst>
      <p:ext uri="{BB962C8B-B14F-4D97-AF65-F5344CB8AC3E}">
        <p14:creationId xmlns:p14="http://schemas.microsoft.com/office/powerpoint/2010/main" val="3162396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itchFamily="18" charset="0"/>
                <a:cs typeface="Times New Roman" pitchFamily="18" charset="0"/>
              </a:rPr>
              <a:t>Application and Interface Section</a:t>
            </a:r>
            <a:endParaRPr lang="en-IN" dirty="0"/>
          </a:p>
        </p:txBody>
      </p:sp>
      <p:sp>
        <p:nvSpPr>
          <p:cNvPr id="3" name="Content Placeholder 2"/>
          <p:cNvSpPr>
            <a:spLocks noGrp="1"/>
          </p:cNvSpPr>
          <p:nvPr>
            <p:ph idx="1"/>
          </p:nvPr>
        </p:nvSpPr>
        <p:spPr/>
        <p:txBody>
          <a:bodyPr>
            <a:normAutofit fontScale="55000" lnSpcReduction="20000"/>
          </a:bodyPr>
          <a:lstStyle/>
          <a:p>
            <a:pPr marL="82296" indent="0">
              <a:buNone/>
            </a:pPr>
            <a:r>
              <a:rPr lang="en-US" dirty="0" smtClean="0"/>
              <a:t>a. </a:t>
            </a:r>
            <a:r>
              <a:rPr lang="en-US" dirty="0" smtClean="0">
                <a:solidFill>
                  <a:srgbClr val="FF0000"/>
                </a:solidFill>
              </a:rPr>
              <a:t>Network </a:t>
            </a:r>
            <a:r>
              <a:rPr lang="en-US" dirty="0">
                <a:solidFill>
                  <a:srgbClr val="FF0000"/>
                </a:solidFill>
              </a:rPr>
              <a:t>Layer: </a:t>
            </a:r>
            <a:endParaRPr lang="en-US" dirty="0" smtClean="0">
              <a:solidFill>
                <a:srgbClr val="FF0000"/>
              </a:solidFill>
            </a:endParaRPr>
          </a:p>
          <a:p>
            <a:pPr marL="82296" indent="0">
              <a:buNone/>
            </a:pPr>
            <a:r>
              <a:rPr lang="en-US" dirty="0" smtClean="0"/>
              <a:t>Network </a:t>
            </a:r>
            <a:r>
              <a:rPr lang="en-US" dirty="0"/>
              <a:t>Layer provides interface between MAC layer and the application layer. It is responsible for routing and establishing different topology networking. The functions of network layer are as follows: </a:t>
            </a:r>
            <a:endParaRPr lang="en-US" dirty="0" smtClean="0"/>
          </a:p>
          <a:p>
            <a:pPr marL="82296" indent="0">
              <a:buNone/>
            </a:pPr>
            <a:r>
              <a:rPr lang="en-US" dirty="0" smtClean="0"/>
              <a:t> ➢ </a:t>
            </a:r>
            <a:r>
              <a:rPr lang="en-US" dirty="0"/>
              <a:t>Initiation of a network </a:t>
            </a:r>
            <a:endParaRPr lang="en-US" dirty="0" smtClean="0"/>
          </a:p>
          <a:p>
            <a:pPr marL="82296" indent="0">
              <a:buNone/>
            </a:pPr>
            <a:r>
              <a:rPr lang="en-US" dirty="0" smtClean="0"/>
              <a:t> ➢ </a:t>
            </a:r>
            <a:r>
              <a:rPr lang="en-US" dirty="0"/>
              <a:t>Assigning node addresses </a:t>
            </a:r>
            <a:endParaRPr lang="en-US" dirty="0" smtClean="0"/>
          </a:p>
          <a:p>
            <a:pPr marL="82296" indent="0">
              <a:buNone/>
            </a:pPr>
            <a:r>
              <a:rPr lang="en-US" dirty="0" smtClean="0"/>
              <a:t> ➢ </a:t>
            </a:r>
            <a:r>
              <a:rPr lang="en-US" dirty="0"/>
              <a:t>Configuring of new devices </a:t>
            </a:r>
            <a:endParaRPr lang="en-US" dirty="0" smtClean="0"/>
          </a:p>
          <a:p>
            <a:pPr marL="82296" indent="0">
              <a:buNone/>
            </a:pPr>
            <a:r>
              <a:rPr lang="en-US" dirty="0" smtClean="0"/>
              <a:t> ➢ </a:t>
            </a:r>
            <a:r>
              <a:rPr lang="en-US" dirty="0"/>
              <a:t>Providing secured </a:t>
            </a:r>
            <a:r>
              <a:rPr lang="en-US" dirty="0" smtClean="0"/>
              <a:t>transmission</a:t>
            </a:r>
          </a:p>
          <a:p>
            <a:pPr marL="82296" indent="0">
              <a:buNone/>
            </a:pPr>
            <a:endParaRPr lang="en-US" dirty="0" smtClean="0"/>
          </a:p>
          <a:p>
            <a:pPr marL="82296" indent="0">
              <a:buNone/>
            </a:pPr>
            <a:r>
              <a:rPr lang="en-US" dirty="0" smtClean="0"/>
              <a:t>b</a:t>
            </a:r>
            <a:r>
              <a:rPr lang="en-US" dirty="0"/>
              <a:t>. </a:t>
            </a:r>
            <a:r>
              <a:rPr lang="en-US" dirty="0">
                <a:solidFill>
                  <a:srgbClr val="FF0000"/>
                </a:solidFill>
              </a:rPr>
              <a:t>Application Layer: </a:t>
            </a:r>
            <a:endParaRPr lang="en-US" dirty="0" smtClean="0">
              <a:solidFill>
                <a:srgbClr val="FF0000"/>
              </a:solidFill>
            </a:endParaRPr>
          </a:p>
          <a:p>
            <a:pPr marL="82296" indent="0">
              <a:buNone/>
            </a:pPr>
            <a:r>
              <a:rPr lang="en-US" dirty="0" smtClean="0"/>
              <a:t>The </a:t>
            </a:r>
            <a:r>
              <a:rPr lang="en-US" dirty="0"/>
              <a:t>Application Layer in </a:t>
            </a:r>
            <a:r>
              <a:rPr lang="en-US" dirty="0" err="1"/>
              <a:t>Zigbee</a:t>
            </a:r>
            <a:r>
              <a:rPr lang="en-US" dirty="0"/>
              <a:t> architecture consists of sub layers namely: </a:t>
            </a:r>
            <a:endParaRPr lang="en-US" dirty="0" smtClean="0"/>
          </a:p>
          <a:p>
            <a:pPr marL="82296" indent="0">
              <a:buNone/>
            </a:pPr>
            <a:r>
              <a:rPr lang="en-US" dirty="0" smtClean="0"/>
              <a:t>➢ </a:t>
            </a:r>
            <a:r>
              <a:rPr lang="en-US" dirty="0"/>
              <a:t>Application Support Sub Layer: Filters packets for end devices, checks for duplicity of packets, maximize the chance of successful transmission, automatic check for timer expiry and maintaining binding tables. </a:t>
            </a:r>
            <a:endParaRPr lang="en-US" dirty="0" smtClean="0"/>
          </a:p>
          <a:p>
            <a:pPr marL="82296" indent="0">
              <a:buNone/>
            </a:pPr>
            <a:r>
              <a:rPr lang="en-US" dirty="0" smtClean="0"/>
              <a:t>➢ </a:t>
            </a:r>
            <a:r>
              <a:rPr lang="en-US" dirty="0"/>
              <a:t>Application Framework: Implementation of end points, managing and handling data requests and confirmations.</a:t>
            </a:r>
            <a:endParaRPr lang="en-IN" dirty="0"/>
          </a:p>
        </p:txBody>
      </p:sp>
    </p:spTree>
    <p:extLst>
      <p:ext uri="{BB962C8B-B14F-4D97-AF65-F5344CB8AC3E}">
        <p14:creationId xmlns:p14="http://schemas.microsoft.com/office/powerpoint/2010/main" val="1211538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latin typeface="Times New Roman" pitchFamily="18" charset="0"/>
                <a:cs typeface="Times New Roman" pitchFamily="18" charset="0"/>
              </a:rPr>
              <a:t>Zigbee Working</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114300" indent="0">
              <a:buNone/>
            </a:pPr>
            <a:r>
              <a:rPr lang="en-US" dirty="0" smtClean="0">
                <a:latin typeface="Times New Roman" pitchFamily="18" charset="0"/>
                <a:cs typeface="Times New Roman" pitchFamily="18" charset="0"/>
              </a:rPr>
              <a:t>A typical Zigbee network contains three different types of devices: a coordinator, routers, and end devices. These devices work with each to deliver messages and instructions from the central coordinator out to the individual end devices.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016901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1614488"/>
            <a:ext cx="5419725" cy="36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111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latin typeface="Times New Roman" pitchFamily="18" charset="0"/>
                <a:cs typeface="Times New Roman" pitchFamily="18" charset="0"/>
              </a:rPr>
              <a:t>Advantages of Zigbee Technology</a:t>
            </a:r>
            <a:br>
              <a:rPr lang="en-IN" sz="3600"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827584" y="1600200"/>
            <a:ext cx="7859216" cy="4637112"/>
          </a:xfrm>
        </p:spPr>
        <p:txBody>
          <a:bodyPr>
            <a:noAutofit/>
          </a:bodyPr>
          <a:lstStyle/>
          <a:p>
            <a:r>
              <a:rPr lang="en-US" sz="1800" b="1" dirty="0">
                <a:latin typeface="Times New Roman" pitchFamily="18" charset="0"/>
                <a:cs typeface="Times New Roman" pitchFamily="18" charset="0"/>
              </a:rPr>
              <a:t>High node support:</a:t>
            </a:r>
            <a:r>
              <a:rPr lang="en-US" sz="1800" dirty="0">
                <a:latin typeface="Times New Roman" pitchFamily="18" charset="0"/>
                <a:cs typeface="Times New Roman" pitchFamily="18" charset="0"/>
              </a:rPr>
              <a:t> The Zigbee technology can support thousands of nodes together. It can support 65000 nodes under a single network. </a:t>
            </a:r>
          </a:p>
          <a:p>
            <a:r>
              <a:rPr lang="en-US" sz="1800" b="1" dirty="0">
                <a:latin typeface="Times New Roman" pitchFamily="18" charset="0"/>
                <a:cs typeface="Times New Roman" pitchFamily="18" charset="0"/>
              </a:rPr>
              <a:t>Suitable for devices with low power:</a:t>
            </a:r>
            <a:r>
              <a:rPr lang="en-US" sz="1800" dirty="0">
                <a:latin typeface="Times New Roman" pitchFamily="18" charset="0"/>
                <a:cs typeface="Times New Roman" pitchFamily="18" charset="0"/>
              </a:rPr>
              <a:t> The Zigbee technology is suitable for devices with low power. Since it does not require much bandwidth, small smart devices which are battery-operated, object tags, sensors, etc., are suitable for this technology. It also acts as an alternative for Wi-Fi and Bluetooth technologies.</a:t>
            </a:r>
          </a:p>
          <a:p>
            <a:r>
              <a:rPr lang="en-US" sz="1800" b="1" dirty="0">
                <a:latin typeface="Times New Roman" pitchFamily="18" charset="0"/>
                <a:cs typeface="Times New Roman" pitchFamily="18" charset="0"/>
              </a:rPr>
              <a:t>Range:</a:t>
            </a:r>
            <a:r>
              <a:rPr lang="en-US" sz="1800" dirty="0">
                <a:latin typeface="Times New Roman" pitchFamily="18" charset="0"/>
                <a:cs typeface="Times New Roman" pitchFamily="18" charset="0"/>
              </a:rPr>
              <a:t> Zigbee is a mesh network. Hence, just like mesh networking, Zigbee has a network whose transmission range can be expanded. It provides better stability compared to a single router, Wi-Fi or Bluetooth. </a:t>
            </a:r>
          </a:p>
          <a:p>
            <a:r>
              <a:rPr lang="en-US" sz="1800" b="1" dirty="0" smtClean="0">
                <a:latin typeface="Times New Roman" pitchFamily="18" charset="0"/>
                <a:cs typeface="Times New Roman" pitchFamily="18" charset="0"/>
              </a:rPr>
              <a:t>Flexible:</a:t>
            </a:r>
            <a:r>
              <a:rPr lang="en-US" sz="1800" dirty="0" smtClean="0">
                <a:latin typeface="Times New Roman" pitchFamily="18" charset="0"/>
                <a:cs typeface="Times New Roman" pitchFamily="18" charset="0"/>
              </a:rPr>
              <a:t> The structure of the Zigbee technology is very flexible. It has an easy process for installation, and it is less expensive as well.</a:t>
            </a:r>
            <a:endParaRPr lang="en-US" sz="1800" dirty="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Monitoring:</a:t>
            </a:r>
            <a:r>
              <a:rPr lang="en-US" sz="1800" dirty="0" smtClean="0">
                <a:latin typeface="Times New Roman" pitchFamily="18" charset="0"/>
                <a:cs typeface="Times New Roman" pitchFamily="18" charset="0"/>
              </a:rPr>
              <a:t> The Zigbee technology can be monitored and controlled easily. Since it is mainly used for home appliances, it is easy to maintain it with the help of a remote. </a:t>
            </a:r>
          </a:p>
          <a:p>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2083208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latin typeface="Times New Roman" pitchFamily="18" charset="0"/>
                <a:cs typeface="Times New Roman" pitchFamily="18" charset="0"/>
              </a:rPr>
              <a:t>Disadvantages of Zigbee Technology</a:t>
            </a:r>
            <a:br>
              <a:rPr lang="en-IN" sz="3600" dirty="0">
                <a:latin typeface="Times New Roman" pitchFamily="18" charset="0"/>
                <a:cs typeface="Times New Roman" pitchFamily="18" charset="0"/>
              </a:rPr>
            </a:b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r>
              <a:rPr lang="en-US" b="1" dirty="0">
                <a:latin typeface="Times New Roman" pitchFamily="18" charset="0"/>
                <a:cs typeface="Times New Roman" pitchFamily="18" charset="0"/>
              </a:rPr>
              <a:t>Channel noise:</a:t>
            </a:r>
            <a:r>
              <a:rPr lang="en-US" dirty="0">
                <a:latin typeface="Times New Roman" pitchFamily="18" charset="0"/>
                <a:cs typeface="Times New Roman" pitchFamily="18" charset="0"/>
              </a:rPr>
              <a:t> Zigbee technology is very prone to network interferences. This is because of overcrowding and channel noise of the network. </a:t>
            </a:r>
          </a:p>
          <a:p>
            <a:r>
              <a:rPr lang="en-US" b="1" dirty="0">
                <a:latin typeface="Times New Roman" pitchFamily="18" charset="0"/>
                <a:cs typeface="Times New Roman" pitchFamily="18" charset="0"/>
              </a:rPr>
              <a:t>The transmission rate is low:</a:t>
            </a:r>
            <a:r>
              <a:rPr lang="en-US" dirty="0">
                <a:latin typeface="Times New Roman" pitchFamily="18" charset="0"/>
                <a:cs typeface="Times New Roman" pitchFamily="18" charset="0"/>
              </a:rPr>
              <a:t> The technology used in Zigbee is of low bit rate since it is designed for transmissions of low rate of data. </a:t>
            </a:r>
          </a:p>
          <a:p>
            <a:r>
              <a:rPr lang="en-US" b="1" dirty="0">
                <a:latin typeface="Times New Roman" pitchFamily="18" charset="0"/>
                <a:cs typeface="Times New Roman" pitchFamily="18" charset="0"/>
              </a:rPr>
              <a:t>Security and compatibility: </a:t>
            </a:r>
            <a:r>
              <a:rPr lang="en-US" dirty="0">
                <a:latin typeface="Times New Roman" pitchFamily="18" charset="0"/>
                <a:cs typeface="Times New Roman" pitchFamily="18" charset="0"/>
              </a:rPr>
              <a:t>Zigbee technology has a lot of security threats. Since it is prone to interferences, intentional interferences can cause loss of services provided by the network, theft of data from a node, theft of an entire node. The hacker can also get access to a node and even control it in an unauthorized process. It also has compatibility issues. </a:t>
            </a:r>
          </a:p>
          <a:p>
            <a:r>
              <a:rPr lang="en-US" b="1" dirty="0">
                <a:latin typeface="Times New Roman" pitchFamily="18" charset="0"/>
                <a:cs typeface="Times New Roman" pitchFamily="18" charset="0"/>
              </a:rPr>
              <a:t>Expensive:</a:t>
            </a:r>
            <a:r>
              <a:rPr lang="en-US" dirty="0">
                <a:latin typeface="Times New Roman" pitchFamily="18" charset="0"/>
                <a:cs typeface="Times New Roman" pitchFamily="18" charset="0"/>
              </a:rPr>
              <a:t> Implementation of a Zigbee technology can be expensive. There are various reasons for it. The size of the network and the range of the network affect the cost of implementation of Zigbee</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2717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Applications of Zigbee Technology</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fontAlgn="base"/>
            <a:r>
              <a:rPr lang="en-IN" sz="1600" dirty="0">
                <a:latin typeface="Times New Roman" pitchFamily="18" charset="0"/>
                <a:cs typeface="Times New Roman" pitchFamily="18" charset="0"/>
              </a:rPr>
              <a:t>Home Automation</a:t>
            </a:r>
          </a:p>
          <a:p>
            <a:pPr lvl="1" fontAlgn="base"/>
            <a:r>
              <a:rPr lang="en-IN" sz="1600" dirty="0">
                <a:latin typeface="Times New Roman" pitchFamily="18" charset="0"/>
                <a:cs typeface="Times New Roman" pitchFamily="18" charset="0"/>
              </a:rPr>
              <a:t>Security Systems</a:t>
            </a:r>
          </a:p>
          <a:p>
            <a:pPr lvl="1" fontAlgn="base"/>
            <a:r>
              <a:rPr lang="en-IN" sz="1600" dirty="0">
                <a:latin typeface="Times New Roman" pitchFamily="18" charset="0"/>
                <a:cs typeface="Times New Roman" pitchFamily="18" charset="0"/>
              </a:rPr>
              <a:t>Meter Reading Systems</a:t>
            </a:r>
          </a:p>
          <a:p>
            <a:pPr lvl="1" fontAlgn="base"/>
            <a:r>
              <a:rPr lang="en-IN" sz="1600" dirty="0">
                <a:latin typeface="Times New Roman" pitchFamily="18" charset="0"/>
                <a:cs typeface="Times New Roman" pitchFamily="18" charset="0"/>
              </a:rPr>
              <a:t>Light Control Systems</a:t>
            </a:r>
          </a:p>
          <a:p>
            <a:pPr lvl="1" fontAlgn="base"/>
            <a:r>
              <a:rPr lang="en-IN" sz="1600" dirty="0">
                <a:latin typeface="Times New Roman" pitchFamily="18" charset="0"/>
                <a:cs typeface="Times New Roman" pitchFamily="18" charset="0"/>
              </a:rPr>
              <a:t>HVAC Systems</a:t>
            </a:r>
          </a:p>
          <a:p>
            <a:pPr fontAlgn="base"/>
            <a:r>
              <a:rPr lang="en-IN" sz="1600" dirty="0">
                <a:latin typeface="Times New Roman" pitchFamily="18" charset="0"/>
                <a:cs typeface="Times New Roman" pitchFamily="18" charset="0"/>
              </a:rPr>
              <a:t>Consumer Electronics</a:t>
            </a:r>
          </a:p>
          <a:p>
            <a:pPr lvl="1" fontAlgn="base"/>
            <a:r>
              <a:rPr lang="en-IN" sz="1600" dirty="0">
                <a:latin typeface="Times New Roman" pitchFamily="18" charset="0"/>
                <a:cs typeface="Times New Roman" pitchFamily="18" charset="0"/>
              </a:rPr>
              <a:t>Gaming Consoles</a:t>
            </a:r>
          </a:p>
          <a:p>
            <a:pPr lvl="1" fontAlgn="base"/>
            <a:r>
              <a:rPr lang="en-IN" sz="1600" dirty="0">
                <a:latin typeface="Times New Roman" pitchFamily="18" charset="0"/>
                <a:cs typeface="Times New Roman" pitchFamily="18" charset="0"/>
              </a:rPr>
              <a:t>Wireless Mouse</a:t>
            </a:r>
          </a:p>
          <a:p>
            <a:pPr lvl="1" fontAlgn="base"/>
            <a:r>
              <a:rPr lang="en-IN" sz="1600" dirty="0">
                <a:latin typeface="Times New Roman" pitchFamily="18" charset="0"/>
                <a:cs typeface="Times New Roman" pitchFamily="18" charset="0"/>
              </a:rPr>
              <a:t>Wireless Remote Controls</a:t>
            </a:r>
          </a:p>
          <a:p>
            <a:pPr fontAlgn="base"/>
            <a:r>
              <a:rPr lang="en-IN" sz="1600" dirty="0">
                <a:latin typeface="Times New Roman" pitchFamily="18" charset="0"/>
                <a:cs typeface="Times New Roman" pitchFamily="18" charset="0"/>
              </a:rPr>
              <a:t>Industrial Automation</a:t>
            </a:r>
          </a:p>
          <a:p>
            <a:pPr lvl="1" fontAlgn="base"/>
            <a:r>
              <a:rPr lang="en-IN" sz="1600" dirty="0">
                <a:latin typeface="Times New Roman" pitchFamily="18" charset="0"/>
                <a:cs typeface="Times New Roman" pitchFamily="18" charset="0"/>
              </a:rPr>
              <a:t>Asset Management</a:t>
            </a:r>
          </a:p>
          <a:p>
            <a:pPr lvl="1" fontAlgn="base"/>
            <a:r>
              <a:rPr lang="en-IN" sz="1600" dirty="0">
                <a:latin typeface="Times New Roman" pitchFamily="18" charset="0"/>
                <a:cs typeface="Times New Roman" pitchFamily="18" charset="0"/>
              </a:rPr>
              <a:t>Personnel Tracking</a:t>
            </a:r>
          </a:p>
          <a:p>
            <a:pPr lvl="1" fontAlgn="base"/>
            <a:r>
              <a:rPr lang="en-IN" sz="1600" dirty="0">
                <a:latin typeface="Times New Roman" pitchFamily="18" charset="0"/>
                <a:cs typeface="Times New Roman" pitchFamily="18" charset="0"/>
              </a:rPr>
              <a:t>Livestock Tracking</a:t>
            </a:r>
          </a:p>
          <a:p>
            <a:pPr fontAlgn="base"/>
            <a:r>
              <a:rPr lang="en-IN" sz="1600" dirty="0">
                <a:latin typeface="Times New Roman" pitchFamily="18" charset="0"/>
                <a:cs typeface="Times New Roman" pitchFamily="18" charset="0"/>
              </a:rPr>
              <a:t>Healthcare</a:t>
            </a:r>
          </a:p>
          <a:p>
            <a:pPr fontAlgn="base"/>
            <a:r>
              <a:rPr lang="en-IN" sz="1600" dirty="0">
                <a:latin typeface="Times New Roman" pitchFamily="18" charset="0"/>
                <a:cs typeface="Times New Roman" pitchFamily="18" charset="0"/>
              </a:rPr>
              <a:t>Hotel Room Access</a:t>
            </a:r>
          </a:p>
          <a:p>
            <a:pPr fontAlgn="base"/>
            <a:r>
              <a:rPr lang="en-IN" sz="1600" dirty="0">
                <a:latin typeface="Times New Roman" pitchFamily="18" charset="0"/>
                <a:cs typeface="Times New Roman" pitchFamily="18" charset="0"/>
              </a:rPr>
              <a:t>Fire Extinguishers</a:t>
            </a:r>
          </a:p>
          <a:p>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20915847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135</TotalTime>
  <Words>537</Words>
  <Application>Microsoft Office PowerPoint</Application>
  <PresentationFormat>On-screen Show (4:3)</PresentationFormat>
  <Paragraphs>72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Solstice</vt:lpstr>
      <vt:lpstr>Zigbee</vt:lpstr>
      <vt:lpstr>Introduction</vt:lpstr>
      <vt:lpstr>Features</vt:lpstr>
      <vt:lpstr>Zigbee Architecture</vt:lpstr>
      <vt:lpstr>PowerPoint Presentation</vt:lpstr>
      <vt:lpstr>Foundation Layers  </vt:lpstr>
      <vt:lpstr>Application and Interface Section</vt:lpstr>
      <vt:lpstr>Zigbee Working</vt:lpstr>
      <vt:lpstr>PowerPoint Presentation</vt:lpstr>
      <vt:lpstr>Advantages of Zigbee Technology </vt:lpstr>
      <vt:lpstr>Disadvantages of Zigbee Technology </vt:lpstr>
      <vt:lpstr>Applications of Zigbee Technology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Zigbee</dc:title>
  <dc:creator>DELL</dc:creator>
  <cp:lastModifiedBy>DELL</cp:lastModifiedBy>
  <cp:revision>16</cp:revision>
  <dcterms:created xsi:type="dcterms:W3CDTF">2023-01-03T04:37:10Z</dcterms:created>
  <dcterms:modified xsi:type="dcterms:W3CDTF">2026-01-14T06:34:15Z</dcterms:modified>
</cp:coreProperties>
</file>